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77" r:id="rId2"/>
    <p:sldId id="265" r:id="rId3"/>
    <p:sldId id="271" r:id="rId4"/>
    <p:sldId id="257" r:id="rId5"/>
    <p:sldId id="270" r:id="rId6"/>
    <p:sldId id="272" r:id="rId7"/>
    <p:sldId id="273" r:id="rId8"/>
    <p:sldId id="274" r:id="rId9"/>
    <p:sldId id="278" r:id="rId10"/>
    <p:sldId id="279" r:id="rId11"/>
    <p:sldId id="275" r:id="rId12"/>
    <p:sldId id="276" r:id="rId13"/>
    <p:sldId id="269" r:id="rId14"/>
    <p:sldId id="263" r:id="rId15"/>
    <p:sldId id="264"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508E"/>
    <a:srgbClr val="0000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6052" autoAdjust="0"/>
  </p:normalViewPr>
  <p:slideViewPr>
    <p:cSldViewPr>
      <p:cViewPr varScale="1">
        <p:scale>
          <a:sx n="82" d="100"/>
          <a:sy n="82" d="100"/>
        </p:scale>
        <p:origin x="125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0A6E61-1E67-4AAE-9222-C69903058564}" type="datetimeFigureOut">
              <a:rPr lang="en-GB" smtClean="0"/>
              <a:pPr/>
              <a:t>22/01/2025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B084D0-3E52-4FF2-B139-04E31B5BCBD6}" type="slidenum">
              <a:rPr lang="en-GB" smtClean="0"/>
              <a:pPr/>
              <a:t>‹#›</a:t>
            </a:fld>
            <a:endParaRPr lang="en-GB"/>
          </a:p>
        </p:txBody>
      </p:sp>
    </p:spTree>
    <p:extLst>
      <p:ext uri="{BB962C8B-B14F-4D97-AF65-F5344CB8AC3E}">
        <p14:creationId xmlns:p14="http://schemas.microsoft.com/office/powerpoint/2010/main" val="171129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23EBCB80-6D5C-41A6-9247-9C1BD66CC7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6EF32CB5-B17A-495D-B761-A7BCB5E538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9220" name="Slide Number Placeholder 3">
            <a:extLst>
              <a:ext uri="{FF2B5EF4-FFF2-40B4-BE49-F238E27FC236}">
                <a16:creationId xmlns:a16="http://schemas.microsoft.com/office/drawing/2014/main" id="{893CA642-3390-4385-8DF3-1E8E0CBBD8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A71FFC-FD4B-4B87-BC67-5D8120584A9C}" type="slidenum">
              <a:rPr lang="en-US" altLang="en-US" smtClean="0">
                <a:latin typeface="Calibri" panose="020F0502020204030204" pitchFamily="34" charset="0"/>
              </a:rPr>
              <a:pPr/>
              <a:t>1</a:t>
            </a:fld>
            <a:endParaRPr lang="en-US" altLang="en-US">
              <a:latin typeface="Calibri" panose="020F0502020204030204" pitchFamily="34" charset="0"/>
            </a:endParaRPr>
          </a:p>
        </p:txBody>
      </p:sp>
      <p:sp>
        <p:nvSpPr>
          <p:cNvPr id="2" name="Date Placeholder 1">
            <a:extLst>
              <a:ext uri="{FF2B5EF4-FFF2-40B4-BE49-F238E27FC236}">
                <a16:creationId xmlns:a16="http://schemas.microsoft.com/office/drawing/2014/main" id="{F45AD865-D4C3-4E34-A916-40FB4BEC6E74}"/>
              </a:ext>
            </a:extLst>
          </p:cNvPr>
          <p:cNvSpPr>
            <a:spLocks noGrp="1"/>
          </p:cNvSpPr>
          <p:nvPr>
            <p:ph type="dt" sz="quarter" idx="1"/>
          </p:nvPr>
        </p:nvSpPr>
        <p:spPr/>
        <p:txBody>
          <a:bodyPr/>
          <a:lstStyle/>
          <a:p>
            <a:pPr>
              <a:defRPr/>
            </a:pPr>
            <a:fld id="{553756C0-0660-487D-A55C-D03ABF1D7A3C}" type="datetime1">
              <a:rPr lang="en-US"/>
              <a:pPr>
                <a:defRPr/>
              </a:pPr>
              <a:t>1/22/2025</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084D0-3E52-4FF2-B139-04E31B5BCBD6}" type="slidenum">
              <a:rPr lang="en-GB" smtClean="0"/>
              <a:pPr/>
              <a:t>13</a:t>
            </a:fld>
            <a:endParaRPr lang="en-GB"/>
          </a:p>
        </p:txBody>
      </p:sp>
    </p:spTree>
    <p:extLst>
      <p:ext uri="{BB962C8B-B14F-4D97-AF65-F5344CB8AC3E}">
        <p14:creationId xmlns:p14="http://schemas.microsoft.com/office/powerpoint/2010/main" val="1544061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9620DC3-D210-4893-A005-47BE4D0A20A3}" type="datetime1">
              <a:rPr lang="en-US" smtClean="0"/>
              <a:pPr>
                <a:defRPr/>
              </a:pPr>
              <a:t>1/22/2025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AC4BA16-51C4-4B93-A69E-D6DD8E5510C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2166180-E018-4CE5-989D-0BC1BAFB7566}" type="datetime1">
              <a:rPr lang="en-US" smtClean="0"/>
              <a:pPr>
                <a:defRPr/>
              </a:pPr>
              <a:t>1/22/2025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B20AF8-172C-4624-9675-EFA1EACB580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3A546DC-B22E-4E5F-8EC2-7EC316137D5A}" type="datetime1">
              <a:rPr lang="en-US" smtClean="0"/>
              <a:pPr>
                <a:defRPr/>
              </a:pPr>
              <a:t>1/22/2025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534AC0A-4151-47BB-AD5F-F917592E51E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9D3EA7E-2628-4521-B6FA-F0B6722084F4}" type="datetime1">
              <a:rPr lang="en-US" smtClean="0"/>
              <a:pPr>
                <a:defRPr/>
              </a:pPr>
              <a:t>1/22/2025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18B0231-A98D-4A9B-A1E7-7F01BB74AA9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4186EEE-E1EC-4EBF-91F5-7F5455A2ACC7}" type="datetime1">
              <a:rPr lang="en-US" smtClean="0"/>
              <a:pPr>
                <a:defRPr/>
              </a:pPr>
              <a:t>1/22/2025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FF6FD9F-6BCE-41CB-A84B-718CCC6C09F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C54BF20-F75A-4B1A-958D-60EB277C69D1}" type="datetime1">
              <a:rPr lang="en-US" smtClean="0"/>
              <a:pPr>
                <a:defRPr/>
              </a:pPr>
              <a:t>1/22/2025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5E634AA-91A4-4783-9A49-A7A56526123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355FEE3-DE1F-4EC3-902A-79D4023BA0AF}" type="datetime1">
              <a:rPr lang="en-US" smtClean="0"/>
              <a:pPr>
                <a:defRPr/>
              </a:pPr>
              <a:t>1/22/2025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B83F83C-2865-4512-9216-5700DC13072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7390656-EDB2-45FE-B363-54FF2C8C238C}" type="datetime1">
              <a:rPr lang="en-US" smtClean="0"/>
              <a:pPr>
                <a:defRPr/>
              </a:pPr>
              <a:t>1/22/2025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8B4ABE5-11F4-47DB-B0D7-60E3A33C202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2A754E-6ED1-4AC0-A323-D62E79147EA9}" type="datetime1">
              <a:rPr lang="en-US" smtClean="0"/>
              <a:pPr>
                <a:defRPr/>
              </a:pPr>
              <a:t>1/22/2025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EEFCBB3-371C-4DBF-8675-D5B223710A4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0FE37B-E368-41FD-8201-98D7804AAF55}" type="datetime1">
              <a:rPr lang="en-US" smtClean="0"/>
              <a:pPr>
                <a:defRPr/>
              </a:pPr>
              <a:t>1/22/2025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B3AFB44-8963-4D5A-9770-722A53751F4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8CC0B50-C8EF-4DF8-A6DF-8E8458D65165}" type="datetime1">
              <a:rPr lang="en-US" smtClean="0"/>
              <a:pPr>
                <a:defRPr/>
              </a:pPr>
              <a:t>1/22/2025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CD4177D-3C34-4D5F-9AA5-6FA3C331D7E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BAD3AEDD-6E38-4E69-8639-C36242E99A78}" type="datetime1">
              <a:rPr lang="en-US" smtClean="0"/>
              <a:pPr>
                <a:defRPr/>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5D11B3D2-6A7A-43CB-AC29-BDE9AFDFD3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828AD170-42DF-443D-A990-74D25E9BE1EE}"/>
              </a:ext>
            </a:extLst>
          </p:cNvPr>
          <p:cNvSpPr>
            <a:spLocks noChangeArrowheads="1"/>
          </p:cNvSpPr>
          <p:nvPr/>
        </p:nvSpPr>
        <p:spPr bwMode="auto">
          <a:xfrm>
            <a:off x="2400300" y="3113459"/>
            <a:ext cx="4343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uFont typeface="Arial" panose="020B0604020202020204" pitchFamily="34" charset="0"/>
              <a:buNone/>
            </a:pPr>
            <a:r>
              <a:rPr lang="en-US" altLang="en-US" b="1" dirty="0"/>
              <a:t>By</a:t>
            </a:r>
          </a:p>
          <a:p>
            <a:pPr algn="ctr" eaLnBrk="1" hangingPunct="1">
              <a:buFont typeface="Arial" panose="020B0604020202020204" pitchFamily="34" charset="0"/>
              <a:buNone/>
            </a:pPr>
            <a:endParaRPr lang="en-US" altLang="en-US" b="1" dirty="0"/>
          </a:p>
          <a:p>
            <a:pPr algn="just" eaLnBrk="1" hangingPunct="1"/>
            <a:r>
              <a:rPr lang="en-US" altLang="en-US" b="1" dirty="0">
                <a:solidFill>
                  <a:srgbClr val="002060"/>
                </a:solidFill>
              </a:rPr>
              <a:t>         DHAARANI S     111621104030</a:t>
            </a:r>
          </a:p>
          <a:p>
            <a:pPr algn="just" eaLnBrk="1" hangingPunct="1"/>
            <a:r>
              <a:rPr lang="en-US" altLang="en-US" b="1" dirty="0">
                <a:solidFill>
                  <a:srgbClr val="002060"/>
                </a:solidFill>
              </a:rPr>
              <a:t>           NETHRA P        111621104104</a:t>
            </a:r>
          </a:p>
          <a:p>
            <a:pPr algn="just" eaLnBrk="1" hangingPunct="1"/>
            <a:r>
              <a:rPr lang="en-US" altLang="en-US" b="1" dirty="0">
                <a:solidFill>
                  <a:srgbClr val="002060"/>
                </a:solidFill>
              </a:rPr>
              <a:t>           NIVETHA R       111621104107</a:t>
            </a:r>
          </a:p>
          <a:p>
            <a:pPr algn="just" eaLnBrk="1" hangingPunct="1"/>
            <a:r>
              <a:rPr lang="en-US" altLang="en-US" b="1" dirty="0">
                <a:solidFill>
                  <a:srgbClr val="002060"/>
                </a:solidFill>
              </a:rPr>
              <a:t>          RANJITHA S      111621104126</a:t>
            </a:r>
            <a:endParaRPr lang="en-US" altLang="en-US" b="1" dirty="0"/>
          </a:p>
        </p:txBody>
      </p:sp>
      <p:sp>
        <p:nvSpPr>
          <p:cNvPr id="58371" name="Rectangle 7">
            <a:extLst>
              <a:ext uri="{FF2B5EF4-FFF2-40B4-BE49-F238E27FC236}">
                <a16:creationId xmlns:a16="http://schemas.microsoft.com/office/drawing/2014/main" id="{6BDD0302-19FA-4168-BF09-FCF47FADC195}"/>
              </a:ext>
            </a:extLst>
          </p:cNvPr>
          <p:cNvSpPr>
            <a:spLocks noChangeArrowheads="1"/>
          </p:cNvSpPr>
          <p:nvPr/>
        </p:nvSpPr>
        <p:spPr bwMode="auto">
          <a:xfrm>
            <a:off x="1524000" y="5334000"/>
            <a:ext cx="6323013" cy="1323439"/>
          </a:xfrm>
          <a:prstGeom prst="rect">
            <a:avLst/>
          </a:prstGeom>
          <a:solidFill>
            <a:schemeClr val="bg1">
              <a:lumMod val="85000"/>
            </a:schemeClr>
          </a:solidFill>
          <a:ln w="9525">
            <a:noFill/>
            <a:miter lim="800000"/>
            <a:headEnd/>
            <a:tailEnd/>
          </a:ln>
        </p:spPr>
        <p:txBody>
          <a:bodyPr>
            <a:spAutoFit/>
          </a:bodyPr>
          <a:lstStyle/>
          <a:p>
            <a:pPr algn="ctr" eaLnBrk="1" fontAlgn="auto" hangingPunct="1">
              <a:spcBef>
                <a:spcPts val="0"/>
              </a:spcBef>
              <a:spcAft>
                <a:spcPts val="0"/>
              </a:spcAft>
              <a:defRPr/>
            </a:pPr>
            <a:r>
              <a:rPr lang="en-US" sz="2400" b="1" dirty="0">
                <a:solidFill>
                  <a:srgbClr val="CC6600"/>
                </a:solidFill>
                <a:latin typeface="Calibri" pitchFamily="34" charset="0"/>
                <a:cs typeface="+mn-cs"/>
              </a:rPr>
              <a:t>SUPERVISOR</a:t>
            </a:r>
          </a:p>
          <a:p>
            <a:pPr algn="ctr" eaLnBrk="1" fontAlgn="auto" hangingPunct="1">
              <a:spcBef>
                <a:spcPts val="0"/>
              </a:spcBef>
              <a:spcAft>
                <a:spcPts val="0"/>
              </a:spcAft>
              <a:defRPr/>
            </a:pPr>
            <a:endParaRPr lang="en-US" b="1" dirty="0">
              <a:latin typeface="+mn-lt"/>
              <a:cs typeface="+mn-cs"/>
            </a:endParaRPr>
          </a:p>
          <a:p>
            <a:pPr algn="ctr" eaLnBrk="1" fontAlgn="auto" hangingPunct="1">
              <a:spcBef>
                <a:spcPts val="0"/>
              </a:spcBef>
              <a:spcAft>
                <a:spcPts val="0"/>
              </a:spcAft>
              <a:defRPr/>
            </a:pPr>
            <a:r>
              <a:rPr lang="en-US" sz="2000" b="1" dirty="0" err="1">
                <a:solidFill>
                  <a:srgbClr val="C00000"/>
                </a:solidFill>
                <a:latin typeface="+mn-lt"/>
                <a:cs typeface="+mn-cs"/>
              </a:rPr>
              <a:t>Dr.</a:t>
            </a:r>
            <a:r>
              <a:rPr lang="en-US" sz="2000" b="1" dirty="0" err="1">
                <a:solidFill>
                  <a:srgbClr val="C00000"/>
                </a:solidFill>
                <a:latin typeface="+mn-lt"/>
              </a:rPr>
              <a:t>N.GANGATHARAN</a:t>
            </a:r>
            <a:endParaRPr lang="en-US" sz="2000" b="1" dirty="0">
              <a:solidFill>
                <a:srgbClr val="C00000"/>
              </a:solidFill>
              <a:latin typeface="+mn-lt"/>
            </a:endParaRPr>
          </a:p>
          <a:p>
            <a:pPr algn="ctr" eaLnBrk="1" fontAlgn="auto" hangingPunct="1">
              <a:spcBef>
                <a:spcPts val="0"/>
              </a:spcBef>
              <a:spcAft>
                <a:spcPts val="0"/>
              </a:spcAft>
              <a:defRPr/>
            </a:pPr>
            <a:r>
              <a:rPr lang="en-US" b="1" dirty="0">
                <a:solidFill>
                  <a:srgbClr val="C00000"/>
                </a:solidFill>
                <a:latin typeface="+mn-lt"/>
              </a:rPr>
              <a:t>HEAD OF DEPARTMENT - ECE</a:t>
            </a:r>
            <a:endParaRPr lang="en-US" b="1" dirty="0">
              <a:solidFill>
                <a:srgbClr val="C00000"/>
              </a:solidFill>
              <a:latin typeface="+mn-lt"/>
              <a:cs typeface="+mn-cs"/>
            </a:endParaRPr>
          </a:p>
        </p:txBody>
      </p:sp>
      <p:sp>
        <p:nvSpPr>
          <p:cNvPr id="8196" name="Rectangle 8">
            <a:extLst>
              <a:ext uri="{FF2B5EF4-FFF2-40B4-BE49-F238E27FC236}">
                <a16:creationId xmlns:a16="http://schemas.microsoft.com/office/drawing/2014/main" id="{C9F39A8D-F981-4D9D-9A82-DB31AE2BC6FD}"/>
              </a:ext>
            </a:extLst>
          </p:cNvPr>
          <p:cNvSpPr>
            <a:spLocks noChangeArrowheads="1"/>
          </p:cNvSpPr>
          <p:nvPr/>
        </p:nvSpPr>
        <p:spPr bwMode="auto">
          <a:xfrm>
            <a:off x="381000" y="1828800"/>
            <a:ext cx="853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b="1">
              <a:solidFill>
                <a:schemeClr val="bg1"/>
              </a:solidFill>
              <a:latin typeface="Century Gothic" panose="020B0502020202020204" pitchFamily="34" charset="0"/>
            </a:endParaRPr>
          </a:p>
          <a:p>
            <a:pPr algn="ctr" eaLnBrk="1" hangingPunct="1"/>
            <a:endParaRPr lang="en-US" altLang="en-US" sz="2400" b="1">
              <a:solidFill>
                <a:schemeClr val="bg1"/>
              </a:solidFill>
              <a:latin typeface="Century Gothic" panose="020B0502020202020204" pitchFamily="34" charset="0"/>
            </a:endParaRPr>
          </a:p>
          <a:p>
            <a:pPr algn="ctr" eaLnBrk="1" hangingPunct="1"/>
            <a:endParaRPr lang="fr-CA" altLang="en-US" sz="2400">
              <a:solidFill>
                <a:schemeClr val="bg1"/>
              </a:solidFill>
              <a:latin typeface="Century Gothic" panose="020B0502020202020204" pitchFamily="34" charset="0"/>
            </a:endParaRPr>
          </a:p>
        </p:txBody>
      </p:sp>
      <p:graphicFrame>
        <p:nvGraphicFramePr>
          <p:cNvPr id="8" name="Table 7">
            <a:extLst>
              <a:ext uri="{FF2B5EF4-FFF2-40B4-BE49-F238E27FC236}">
                <a16:creationId xmlns:a16="http://schemas.microsoft.com/office/drawing/2014/main" id="{C211BC14-9497-4B99-A4AB-7047A1B1F40D}"/>
              </a:ext>
            </a:extLst>
          </p:cNvPr>
          <p:cNvGraphicFramePr>
            <a:graphicFrameLocks noGrp="1"/>
          </p:cNvGraphicFramePr>
          <p:nvPr>
            <p:extLst>
              <p:ext uri="{D42A27DB-BD31-4B8C-83A1-F6EECF244321}">
                <p14:modId xmlns:p14="http://schemas.microsoft.com/office/powerpoint/2010/main" val="3104693311"/>
              </p:ext>
            </p:extLst>
          </p:nvPr>
        </p:nvGraphicFramePr>
        <p:xfrm>
          <a:off x="9525" y="25400"/>
          <a:ext cx="9134475" cy="1766888"/>
        </p:xfrm>
        <a:graphic>
          <a:graphicData uri="http://schemas.openxmlformats.org/drawingml/2006/table">
            <a:tbl>
              <a:tblPr firstRow="1" bandRow="1">
                <a:tableStyleId>{93296810-A885-4BE3-A3E7-6D5BEEA58F35}</a:tableStyleId>
              </a:tblPr>
              <a:tblGrid>
                <a:gridCol w="9134475">
                  <a:extLst>
                    <a:ext uri="{9D8B030D-6E8A-4147-A177-3AD203B41FA5}">
                      <a16:colId xmlns:a16="http://schemas.microsoft.com/office/drawing/2014/main" val="20000"/>
                    </a:ext>
                  </a:extLst>
                </a:gridCol>
              </a:tblGrid>
              <a:tr h="365794">
                <a:tc>
                  <a:txBody>
                    <a:bodyPr/>
                    <a:lstStyle/>
                    <a:p>
                      <a:pPr algn="ctr"/>
                      <a:endParaRPr lang="en-IN" sz="1800" b="1" kern="1200" dirty="0">
                        <a:solidFill>
                          <a:schemeClr val="bg1"/>
                        </a:solidFill>
                        <a:latin typeface="Arial" pitchFamily="34" charset="0"/>
                        <a:ea typeface="+mn-ea"/>
                        <a:cs typeface="Arial" pitchFamily="34" charset="0"/>
                      </a:endParaRPr>
                    </a:p>
                  </a:txBody>
                  <a:tcPr marL="91445" marR="91445" marT="45737" marB="45737"/>
                </a:tc>
                <a:extLst>
                  <a:ext uri="{0D108BD9-81ED-4DB2-BD59-A6C34878D82A}">
                    <a16:rowId xmlns:a16="http://schemas.microsoft.com/office/drawing/2014/main" val="10000"/>
                  </a:ext>
                </a:extLst>
              </a:tr>
              <a:tr h="1035300">
                <a:tc>
                  <a:txBody>
                    <a:bodyPr/>
                    <a:lstStyle/>
                    <a:p>
                      <a:pPr algn="ctr">
                        <a:lnSpc>
                          <a:spcPct val="100000"/>
                        </a:lnSpc>
                      </a:pPr>
                      <a:r>
                        <a:rPr lang="en-US" sz="1800" b="1" dirty="0">
                          <a:latin typeface="Arial" pitchFamily="34" charset="0"/>
                          <a:cs typeface="Arial" pitchFamily="34" charset="0"/>
                        </a:rPr>
                        <a:t>R.M.K. COLLEGE OF</a:t>
                      </a:r>
                      <a:r>
                        <a:rPr lang="en-US" sz="1800" b="1" baseline="0" dirty="0">
                          <a:latin typeface="Arial" pitchFamily="34" charset="0"/>
                          <a:cs typeface="Arial" pitchFamily="34" charset="0"/>
                        </a:rPr>
                        <a:t> </a:t>
                      </a:r>
                      <a:r>
                        <a:rPr lang="en-US" sz="1800" b="1" dirty="0">
                          <a:latin typeface="Arial" pitchFamily="34" charset="0"/>
                          <a:cs typeface="Arial" pitchFamily="34" charset="0"/>
                        </a:rPr>
                        <a:t>ENGINEERING AND TECHNOLOGY</a:t>
                      </a:r>
                    </a:p>
                    <a:p>
                      <a:pPr algn="ctr">
                        <a:lnSpc>
                          <a:spcPct val="100000"/>
                        </a:lnSpc>
                      </a:pPr>
                      <a:r>
                        <a:rPr lang="en-US" sz="1800" b="1" dirty="0">
                          <a:latin typeface="Arial" pitchFamily="34" charset="0"/>
                          <a:cs typeface="Arial" pitchFamily="34" charset="0"/>
                        </a:rPr>
                        <a:t> DEPARTMENT OF ELECTRONICS AND COMMUNICATION</a:t>
                      </a:r>
                    </a:p>
                    <a:p>
                      <a:pPr algn="ctr">
                        <a:lnSpc>
                          <a:spcPct val="100000"/>
                        </a:lnSpc>
                      </a:pPr>
                      <a:r>
                        <a:rPr lang="en-US" sz="1800" b="1" dirty="0">
                          <a:latin typeface="Arial" pitchFamily="34" charset="0"/>
                          <a:cs typeface="Arial" pitchFamily="34" charset="0"/>
                        </a:rPr>
                        <a:t> ENGINEERING</a:t>
                      </a:r>
                      <a:endParaRPr lang="en-IN" sz="1800" b="1" dirty="0">
                        <a:latin typeface="Arial" pitchFamily="34" charset="0"/>
                        <a:cs typeface="Arial" pitchFamily="34" charset="0"/>
                      </a:endParaRPr>
                    </a:p>
                  </a:txBody>
                  <a:tcPr marL="91445" marR="91445" marT="45737" marB="45737"/>
                </a:tc>
                <a:extLst>
                  <a:ext uri="{0D108BD9-81ED-4DB2-BD59-A6C34878D82A}">
                    <a16:rowId xmlns:a16="http://schemas.microsoft.com/office/drawing/2014/main" val="10001"/>
                  </a:ext>
                </a:extLst>
              </a:tr>
              <a:tr h="365794">
                <a:tc>
                  <a:txBody>
                    <a:bodyPr/>
                    <a:lstStyle/>
                    <a:p>
                      <a:pPr algn="ctr"/>
                      <a:r>
                        <a:rPr lang="en-US" sz="1800" b="1" dirty="0">
                          <a:solidFill>
                            <a:schemeClr val="accent1">
                              <a:lumMod val="75000"/>
                            </a:schemeClr>
                          </a:solidFill>
                        </a:rPr>
                        <a:t>B.E</a:t>
                      </a:r>
                      <a:r>
                        <a:rPr lang="en-US" sz="1800" b="1" baseline="0" dirty="0">
                          <a:solidFill>
                            <a:schemeClr val="accent1">
                              <a:lumMod val="75000"/>
                            </a:schemeClr>
                          </a:solidFill>
                        </a:rPr>
                        <a:t> – PROJECT  First Review- DATE:  23.01.2025</a:t>
                      </a:r>
                      <a:endParaRPr lang="en-IN" sz="1800" b="1" dirty="0">
                        <a:solidFill>
                          <a:schemeClr val="accent1">
                            <a:lumMod val="75000"/>
                          </a:schemeClr>
                        </a:solidFill>
                      </a:endParaRPr>
                    </a:p>
                  </a:txBody>
                  <a:tcPr marL="91445" marR="91445" marT="45737" marB="45737"/>
                </a:tc>
                <a:extLst>
                  <a:ext uri="{0D108BD9-81ED-4DB2-BD59-A6C34878D82A}">
                    <a16:rowId xmlns:a16="http://schemas.microsoft.com/office/drawing/2014/main" val="10002"/>
                  </a:ext>
                </a:extLst>
              </a:tr>
            </a:tbl>
          </a:graphicData>
        </a:graphic>
      </p:graphicFrame>
      <p:pic>
        <p:nvPicPr>
          <p:cNvPr id="8207" name="Picture 2" descr="ANNA UNIVERSITY">
            <a:extLst>
              <a:ext uri="{FF2B5EF4-FFF2-40B4-BE49-F238E27FC236}">
                <a16:creationId xmlns:a16="http://schemas.microsoft.com/office/drawing/2014/main" id="{98348F0C-44FD-42EF-8D88-1D8FB5493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19113"/>
            <a:ext cx="83978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8" name="Rectangle 3">
            <a:extLst>
              <a:ext uri="{FF2B5EF4-FFF2-40B4-BE49-F238E27FC236}">
                <a16:creationId xmlns:a16="http://schemas.microsoft.com/office/drawing/2014/main" id="{1CB0C499-D3F1-4FD5-BB96-6A8D618DDF57}"/>
              </a:ext>
            </a:extLst>
          </p:cNvPr>
          <p:cNvSpPr>
            <a:spLocks noChangeArrowheads="1"/>
          </p:cNvSpPr>
          <p:nvPr/>
        </p:nvSpPr>
        <p:spPr bwMode="auto">
          <a:xfrm>
            <a:off x="381000" y="2085946"/>
            <a:ext cx="815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457200" algn="l"/>
              </a:tabLst>
              <a:defRPr>
                <a:solidFill>
                  <a:schemeClr val="tx1"/>
                </a:solidFill>
                <a:latin typeface="Arial" panose="020B0604020202020204" pitchFamily="34" charset="0"/>
                <a:cs typeface="Arial" panose="020B0604020202020204" pitchFamily="34" charset="0"/>
              </a:defRPr>
            </a:lvl1pPr>
            <a:lvl2pPr marL="742950" indent="-285750">
              <a:tabLst>
                <a:tab pos="457200" algn="l"/>
              </a:tabLst>
              <a:defRPr>
                <a:solidFill>
                  <a:schemeClr val="tx1"/>
                </a:solidFill>
                <a:latin typeface="Arial" panose="020B0604020202020204" pitchFamily="34" charset="0"/>
                <a:cs typeface="Arial" panose="020B0604020202020204" pitchFamily="34" charset="0"/>
              </a:defRPr>
            </a:lvl2pPr>
            <a:lvl3pPr marL="1143000" indent="-228600">
              <a:tabLst>
                <a:tab pos="457200" algn="l"/>
              </a:tabLst>
              <a:defRPr>
                <a:solidFill>
                  <a:schemeClr val="tx1"/>
                </a:solidFill>
                <a:latin typeface="Arial" panose="020B0604020202020204" pitchFamily="34" charset="0"/>
                <a:cs typeface="Arial" panose="020B0604020202020204" pitchFamily="34" charset="0"/>
              </a:defRPr>
            </a:lvl3pPr>
            <a:lvl4pPr marL="1600200" indent="-228600">
              <a:tabLst>
                <a:tab pos="457200" algn="l"/>
              </a:tabLst>
              <a:defRPr>
                <a:solidFill>
                  <a:schemeClr val="tx1"/>
                </a:solidFill>
                <a:latin typeface="Arial" panose="020B0604020202020204" pitchFamily="34" charset="0"/>
                <a:cs typeface="Arial" panose="020B0604020202020204" pitchFamily="34" charset="0"/>
              </a:defRPr>
            </a:lvl4pPr>
            <a:lvl5pPr marL="2057400" indent="-228600">
              <a:tabLst>
                <a:tab pos="4572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9pPr>
          </a:lstStyle>
          <a:p>
            <a:pPr algn="ctr"/>
            <a:r>
              <a:rPr lang="en-IN" altLang="en-US" sz="2000" b="1" dirty="0">
                <a:solidFill>
                  <a:srgbClr val="FF0000"/>
                </a:solidFill>
              </a:rPr>
              <a:t>TITLE:</a:t>
            </a:r>
            <a:endParaRPr lang="en-IN" altLang="en-US" sz="2000" dirty="0">
              <a:solidFill>
                <a:srgbClr val="FF0000"/>
              </a:solidFill>
            </a:endParaRPr>
          </a:p>
        </p:txBody>
      </p:sp>
      <p:pic>
        <p:nvPicPr>
          <p:cNvPr id="8209" name="Picture 21">
            <a:extLst>
              <a:ext uri="{FF2B5EF4-FFF2-40B4-BE49-F238E27FC236}">
                <a16:creationId xmlns:a16="http://schemas.microsoft.com/office/drawing/2014/main" id="{5C4F955B-5EE5-4F7D-9091-2D6AF9E4B4C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3400" y="457200"/>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0D9A270-D188-8177-3A6C-864D043173D1}"/>
              </a:ext>
            </a:extLst>
          </p:cNvPr>
          <p:cNvSpPr txBox="1"/>
          <p:nvPr/>
        </p:nvSpPr>
        <p:spPr>
          <a:xfrm>
            <a:off x="1282816" y="2570565"/>
            <a:ext cx="6815007" cy="369332"/>
          </a:xfrm>
          <a:prstGeom prst="rect">
            <a:avLst/>
          </a:prstGeom>
          <a:noFill/>
        </p:spPr>
        <p:txBody>
          <a:bodyPr wrap="none" rtlCol="0">
            <a:spAutoFit/>
          </a:bodyPr>
          <a:lstStyle/>
          <a:p>
            <a:r>
              <a:rPr lang="en-IN" b="1" dirty="0"/>
              <a:t>CLOUD BASED MCB TRIP MONITORING SYSTEM USING IOT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228600"/>
            <a:ext cx="8229600" cy="563562"/>
          </a:xfrm>
        </p:spPr>
        <p:txBody>
          <a:bodyPr/>
          <a:lstStyle/>
          <a:p>
            <a:pPr eaLnBrk="1" hangingPunct="1"/>
            <a:r>
              <a:rPr lang="en-US" sz="2400" b="1" dirty="0">
                <a:solidFill>
                  <a:srgbClr val="0000FF"/>
                </a:solidFill>
                <a:latin typeface="Arial" charset="0"/>
                <a:cs typeface="Arial" charset="0"/>
              </a:rPr>
              <a:t>Contents</a:t>
            </a:r>
          </a:p>
        </p:txBody>
      </p:sp>
      <p:sp>
        <p:nvSpPr>
          <p:cNvPr id="3075" name="Content Placeholder 2"/>
          <p:cNvSpPr>
            <a:spLocks noGrp="1"/>
          </p:cNvSpPr>
          <p:nvPr>
            <p:ph idx="1"/>
          </p:nvPr>
        </p:nvSpPr>
        <p:spPr>
          <a:xfrm>
            <a:off x="685800" y="685800"/>
            <a:ext cx="7467600" cy="5562600"/>
          </a:xfrm>
        </p:spPr>
        <p:txBody>
          <a:bodyPr/>
          <a:lstStyle/>
          <a:p>
            <a:pPr eaLnBrk="1" hangingPunct="1">
              <a:lnSpc>
                <a:spcPct val="200000"/>
              </a:lnSpc>
              <a:buFont typeface="Wingdings" pitchFamily="2" charset="2"/>
              <a:buChar char="v"/>
            </a:pPr>
            <a:r>
              <a:rPr lang="en-US" sz="2000" dirty="0">
                <a:latin typeface="Arial" charset="0"/>
                <a:cs typeface="Arial" charset="0"/>
              </a:rPr>
              <a:t>Objective</a:t>
            </a:r>
          </a:p>
          <a:p>
            <a:pPr eaLnBrk="1" hangingPunct="1">
              <a:lnSpc>
                <a:spcPct val="200000"/>
              </a:lnSpc>
              <a:buFont typeface="Wingdings" pitchFamily="2" charset="2"/>
              <a:buChar char="v"/>
            </a:pPr>
            <a:r>
              <a:rPr lang="en-US" sz="2000" dirty="0">
                <a:latin typeface="Arial" charset="0"/>
                <a:cs typeface="Arial" charset="0"/>
              </a:rPr>
              <a:t>Introduction</a:t>
            </a:r>
          </a:p>
          <a:p>
            <a:pPr eaLnBrk="1" hangingPunct="1">
              <a:lnSpc>
                <a:spcPct val="200000"/>
              </a:lnSpc>
              <a:buFont typeface="Wingdings" pitchFamily="2" charset="2"/>
              <a:buChar char="v"/>
            </a:pPr>
            <a:r>
              <a:rPr lang="en-US" sz="2000" dirty="0">
                <a:latin typeface="Arial" charset="0"/>
                <a:cs typeface="Arial" charset="0"/>
              </a:rPr>
              <a:t>Literature Review</a:t>
            </a:r>
          </a:p>
          <a:p>
            <a:pPr eaLnBrk="1" hangingPunct="1">
              <a:lnSpc>
                <a:spcPct val="200000"/>
              </a:lnSpc>
              <a:buFont typeface="Wingdings" pitchFamily="2" charset="2"/>
              <a:buChar char="v"/>
            </a:pPr>
            <a:r>
              <a:rPr lang="en-US" sz="2000" dirty="0">
                <a:latin typeface="Arial" charset="0"/>
                <a:cs typeface="Arial" charset="0"/>
              </a:rPr>
              <a:t>Problem Statement</a:t>
            </a:r>
          </a:p>
          <a:p>
            <a:pPr eaLnBrk="1" hangingPunct="1">
              <a:lnSpc>
                <a:spcPct val="200000"/>
              </a:lnSpc>
              <a:buFont typeface="Wingdings" pitchFamily="2" charset="2"/>
              <a:buChar char="v"/>
            </a:pPr>
            <a:r>
              <a:rPr lang="en-US" sz="2000" dirty="0">
                <a:latin typeface="Arial" charset="0"/>
                <a:cs typeface="Arial" charset="0"/>
              </a:rPr>
              <a:t>Proposed Work</a:t>
            </a:r>
          </a:p>
          <a:p>
            <a:pPr marL="1371600" indent="117475" eaLnBrk="1" hangingPunct="1">
              <a:lnSpc>
                <a:spcPct val="200000"/>
              </a:lnSpc>
              <a:buFont typeface="Wingdings" pitchFamily="2" charset="2"/>
              <a:buChar char="§"/>
              <a:tabLst>
                <a:tab pos="1608138" algn="l"/>
              </a:tabLst>
            </a:pPr>
            <a:r>
              <a:rPr lang="en-US" sz="2000" dirty="0">
                <a:latin typeface="Arial" charset="0"/>
                <a:cs typeface="Arial" charset="0"/>
              </a:rPr>
              <a:t>		Algorithm</a:t>
            </a:r>
          </a:p>
          <a:p>
            <a:pPr marL="1371600" indent="117475" eaLnBrk="1" hangingPunct="1">
              <a:lnSpc>
                <a:spcPct val="200000"/>
              </a:lnSpc>
              <a:buFont typeface="Wingdings" pitchFamily="2" charset="2"/>
              <a:buChar char="§"/>
              <a:tabLst>
                <a:tab pos="1608138" algn="l"/>
              </a:tabLst>
            </a:pPr>
            <a:r>
              <a:rPr lang="en-US" sz="2000" dirty="0">
                <a:latin typeface="Arial" charset="0"/>
                <a:cs typeface="Arial" charset="0"/>
              </a:rPr>
              <a:t>		Flow Diagram/Block Diagram</a:t>
            </a:r>
          </a:p>
          <a:p>
            <a:pPr marL="1371600" indent="117475" eaLnBrk="1" hangingPunct="1">
              <a:lnSpc>
                <a:spcPct val="200000"/>
              </a:lnSpc>
              <a:buFont typeface="Wingdings" pitchFamily="2" charset="2"/>
              <a:buChar char="§"/>
              <a:tabLst>
                <a:tab pos="1608138" algn="l"/>
              </a:tabLst>
            </a:pPr>
            <a:r>
              <a:rPr lang="en-US" sz="2000" dirty="0">
                <a:latin typeface="Arial" charset="0"/>
                <a:cs typeface="Arial" charset="0"/>
              </a:rPr>
              <a:t>		Mathematical Model</a:t>
            </a:r>
          </a:p>
        </p:txBody>
      </p:sp>
      <p:sp>
        <p:nvSpPr>
          <p:cNvPr id="4" name="Date Placeholder 3"/>
          <p:cNvSpPr>
            <a:spLocks noGrp="1"/>
          </p:cNvSpPr>
          <p:nvPr>
            <p:ph type="dt" sz="half" idx="10"/>
          </p:nvPr>
        </p:nvSpPr>
        <p:spPr>
          <a:xfrm>
            <a:off x="457200" y="6324600"/>
            <a:ext cx="2133600" cy="365125"/>
          </a:xfrm>
        </p:spPr>
        <p:txBody>
          <a:bodyPr/>
          <a:lstStyle/>
          <a:p>
            <a:pPr>
              <a:defRPr/>
            </a:pPr>
            <a:fld id="{28CE219D-7669-4E2C-A35E-D1673B132878}" type="datetime1">
              <a:rPr lang="en-US" smtClean="0"/>
              <a:pPr>
                <a:defRPr/>
              </a:pPr>
              <a:t>1/22/2025</a:t>
            </a:fld>
            <a:endParaRPr lang="en-US" dirty="0"/>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2</a:t>
            </a:fld>
            <a:endParaRPr lang="en-US"/>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2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0" end="0"/>
                                            </p:txEl>
                                          </p:spTgt>
                                        </p:tgtEl>
                                        <p:attrNameLst>
                                          <p:attrName>style.visibility</p:attrName>
                                        </p:attrNameLst>
                                      </p:cBhvr>
                                      <p:to>
                                        <p:strVal val="visible"/>
                                      </p:to>
                                    </p:set>
                                    <p:animEffect transition="in" filter="fade">
                                      <p:cBhvr>
                                        <p:cTn id="12" dur="2000"/>
                                        <p:tgtEl>
                                          <p:spTgt spid="307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75">
                                            <p:txEl>
                                              <p:pRg st="1" end="1"/>
                                            </p:txEl>
                                          </p:spTgt>
                                        </p:tgtEl>
                                        <p:attrNameLst>
                                          <p:attrName>style.visibility</p:attrName>
                                        </p:attrNameLst>
                                      </p:cBhvr>
                                      <p:to>
                                        <p:strVal val="visible"/>
                                      </p:to>
                                    </p:set>
                                    <p:animEffect transition="in" filter="fade">
                                      <p:cBhvr>
                                        <p:cTn id="15" dur="2000"/>
                                        <p:tgtEl>
                                          <p:spTgt spid="3075">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75">
                                            <p:txEl>
                                              <p:pRg st="2" end="2"/>
                                            </p:txEl>
                                          </p:spTgt>
                                        </p:tgtEl>
                                        <p:attrNameLst>
                                          <p:attrName>style.visibility</p:attrName>
                                        </p:attrNameLst>
                                      </p:cBhvr>
                                      <p:to>
                                        <p:strVal val="visible"/>
                                      </p:to>
                                    </p:set>
                                    <p:animEffect transition="in" filter="fade">
                                      <p:cBhvr>
                                        <p:cTn id="18" dur="2000"/>
                                        <p:tgtEl>
                                          <p:spTgt spid="3075">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75">
                                            <p:txEl>
                                              <p:pRg st="3" end="3"/>
                                            </p:txEl>
                                          </p:spTgt>
                                        </p:tgtEl>
                                        <p:attrNameLst>
                                          <p:attrName>style.visibility</p:attrName>
                                        </p:attrNameLst>
                                      </p:cBhvr>
                                      <p:to>
                                        <p:strVal val="visible"/>
                                      </p:to>
                                    </p:set>
                                    <p:animEffect transition="in" filter="fade">
                                      <p:cBhvr>
                                        <p:cTn id="21" dur="2000"/>
                                        <p:tgtEl>
                                          <p:spTgt spid="3075">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5">
                                            <p:txEl>
                                              <p:pRg st="4" end="4"/>
                                            </p:txEl>
                                          </p:spTgt>
                                        </p:tgtEl>
                                        <p:attrNameLst>
                                          <p:attrName>style.visibility</p:attrName>
                                        </p:attrNameLst>
                                      </p:cBhvr>
                                      <p:to>
                                        <p:strVal val="visible"/>
                                      </p:to>
                                    </p:set>
                                    <p:animEffect transition="in" filter="fade">
                                      <p:cBhvr>
                                        <p:cTn id="24" dur="2000"/>
                                        <p:tgtEl>
                                          <p:spTgt spid="3075">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75">
                                            <p:txEl>
                                              <p:pRg st="5" end="5"/>
                                            </p:txEl>
                                          </p:spTgt>
                                        </p:tgtEl>
                                        <p:attrNameLst>
                                          <p:attrName>style.visibility</p:attrName>
                                        </p:attrNameLst>
                                      </p:cBhvr>
                                      <p:to>
                                        <p:strVal val="visible"/>
                                      </p:to>
                                    </p:set>
                                    <p:animEffect transition="in" filter="fade">
                                      <p:cBhvr>
                                        <p:cTn id="27" dur="2000"/>
                                        <p:tgtEl>
                                          <p:spTgt spid="3075">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75">
                                            <p:txEl>
                                              <p:pRg st="6" end="6"/>
                                            </p:txEl>
                                          </p:spTgt>
                                        </p:tgtEl>
                                        <p:attrNameLst>
                                          <p:attrName>style.visibility</p:attrName>
                                        </p:attrNameLst>
                                      </p:cBhvr>
                                      <p:to>
                                        <p:strVal val="visible"/>
                                      </p:to>
                                    </p:set>
                                    <p:animEffect transition="in" filter="fade">
                                      <p:cBhvr>
                                        <p:cTn id="30" dur="2000"/>
                                        <p:tgtEl>
                                          <p:spTgt spid="3075">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75">
                                            <p:txEl>
                                              <p:pRg st="7" end="7"/>
                                            </p:txEl>
                                          </p:spTgt>
                                        </p:tgtEl>
                                        <p:attrNameLst>
                                          <p:attrName>style.visibility</p:attrName>
                                        </p:attrNameLst>
                                      </p:cBhvr>
                                      <p:to>
                                        <p:strVal val="visible"/>
                                      </p:to>
                                    </p:set>
                                    <p:animEffect transition="in" filter="fade">
                                      <p:cBhvr>
                                        <p:cTn id="33" dur="2000"/>
                                        <p:tgtEl>
                                          <p:spTgt spid="30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2514600"/>
          </a:xfrm>
        </p:spPr>
        <p:txBody>
          <a:bodyPr/>
          <a:lstStyle/>
          <a:p>
            <a:pPr>
              <a:lnSpc>
                <a:spcPct val="150000"/>
              </a:lnSpc>
              <a:buFont typeface="Wingdings" pitchFamily="2" charset="2"/>
              <a:buChar char="v"/>
            </a:pPr>
            <a:r>
              <a:rPr lang="en-US" sz="2000" dirty="0">
                <a:latin typeface="Arial" pitchFamily="34" charset="0"/>
                <a:cs typeface="Arial" pitchFamily="34" charset="0"/>
              </a:rPr>
              <a:t>Simulation Tool/ Equipments/ Components</a:t>
            </a:r>
          </a:p>
          <a:p>
            <a:pPr>
              <a:lnSpc>
                <a:spcPct val="150000"/>
              </a:lnSpc>
              <a:buFont typeface="Wingdings" pitchFamily="2" charset="2"/>
              <a:buChar char="v"/>
            </a:pPr>
            <a:r>
              <a:rPr lang="en-US" sz="2000" dirty="0">
                <a:latin typeface="Arial" pitchFamily="34" charset="0"/>
                <a:cs typeface="Arial" pitchFamily="34" charset="0"/>
              </a:rPr>
              <a:t>Conclusion </a:t>
            </a:r>
          </a:p>
          <a:p>
            <a:pPr>
              <a:lnSpc>
                <a:spcPct val="150000"/>
              </a:lnSpc>
              <a:buFont typeface="Wingdings" pitchFamily="2" charset="2"/>
              <a:buChar char="v"/>
            </a:pPr>
            <a:r>
              <a:rPr lang="en-US" sz="2000" dirty="0">
                <a:latin typeface="Arial" pitchFamily="34" charset="0"/>
                <a:cs typeface="Arial" pitchFamily="34" charset="0"/>
              </a:rPr>
              <a:t>References</a:t>
            </a:r>
          </a:p>
          <a:p>
            <a:pPr>
              <a:lnSpc>
                <a:spcPct val="150000"/>
              </a:lnSpc>
              <a:buFont typeface="Wingdings" pitchFamily="2" charset="2"/>
              <a:buChar char="v"/>
            </a:pPr>
            <a:r>
              <a:rPr lang="en-US" sz="2000" dirty="0">
                <a:latin typeface="Arial" pitchFamily="34" charset="0"/>
                <a:cs typeface="Arial" pitchFamily="34" charset="0"/>
              </a:rPr>
              <a:t> Work Plan</a:t>
            </a:r>
          </a:p>
          <a:p>
            <a:pPr>
              <a:buNone/>
            </a:pPr>
            <a:endParaRPr lang="en-US" dirty="0"/>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3</a:t>
            </a:fld>
            <a:endParaRPr lang="en-US"/>
          </a:p>
        </p:txBody>
      </p:sp>
      <p:sp>
        <p:nvSpPr>
          <p:cNvPr id="6" name="Title 1"/>
          <p:cNvSpPr>
            <a:spLocks noGrp="1"/>
          </p:cNvSpPr>
          <p:nvPr>
            <p:ph type="title"/>
          </p:nvPr>
        </p:nvSpPr>
        <p:spPr>
          <a:xfrm>
            <a:off x="457200" y="228600"/>
            <a:ext cx="8229600" cy="563562"/>
          </a:xfrm>
        </p:spPr>
        <p:txBody>
          <a:bodyPr/>
          <a:lstStyle/>
          <a:p>
            <a:pPr eaLnBrk="1" hangingPunct="1"/>
            <a:r>
              <a:rPr lang="en-US" sz="2400" b="1" dirty="0">
                <a:solidFill>
                  <a:srgbClr val="0000FF"/>
                </a:solidFill>
                <a:latin typeface="Arial" charset="0"/>
                <a:cs typeface="Arial" charset="0"/>
              </a:rPr>
              <a:t>Contents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381000"/>
            <a:ext cx="8229600" cy="1143000"/>
          </a:xfrm>
        </p:spPr>
        <p:txBody>
          <a:bodyPr/>
          <a:lstStyle/>
          <a:p>
            <a:pPr eaLnBrk="1" hangingPunct="1"/>
            <a:r>
              <a:rPr lang="en-US" sz="2400" b="1" dirty="0">
                <a:solidFill>
                  <a:srgbClr val="0000FF"/>
                </a:solidFill>
                <a:latin typeface="Arial" charset="0"/>
                <a:cs typeface="Arial" charset="0"/>
              </a:rPr>
              <a:t>Objective</a:t>
            </a:r>
          </a:p>
        </p:txBody>
      </p:sp>
      <p:sp>
        <p:nvSpPr>
          <p:cNvPr id="5" name="Date Placeholder 4"/>
          <p:cNvSpPr>
            <a:spLocks noGrp="1"/>
          </p:cNvSpPr>
          <p:nvPr>
            <p:ph type="dt" sz="half" idx="10"/>
          </p:nvPr>
        </p:nvSpPr>
        <p:spPr/>
        <p:txBody>
          <a:bodyPr/>
          <a:lstStyle/>
          <a:p>
            <a:pPr>
              <a:defRPr/>
            </a:pPr>
            <a:fld id="{141CCFF6-5267-4FD5-A01A-A73FAAEF532A}" type="datetime1">
              <a:rPr lang="en-US" smtClean="0"/>
              <a:pPr>
                <a:defRPr/>
              </a:pPr>
              <a:t>1/22/2025</a:t>
            </a:fld>
            <a:endParaRPr lang="en-US"/>
          </a:p>
        </p:txBody>
      </p:sp>
      <p:sp>
        <p:nvSpPr>
          <p:cNvPr id="6" name="Slide Number Placeholder 5"/>
          <p:cNvSpPr>
            <a:spLocks noGrp="1"/>
          </p:cNvSpPr>
          <p:nvPr>
            <p:ph type="sldNum" sz="quarter" idx="12"/>
          </p:nvPr>
        </p:nvSpPr>
        <p:spPr/>
        <p:txBody>
          <a:bodyPr/>
          <a:lstStyle/>
          <a:p>
            <a:pPr>
              <a:defRPr/>
            </a:pPr>
            <a:fld id="{55B20AF8-172C-4624-9675-EFA1EACB580C}" type="slidenum">
              <a:rPr lang="en-US" smtClean="0"/>
              <a:pPr>
                <a:defRPr/>
              </a:pPr>
              <a:t>4</a:t>
            </a:fld>
            <a:endParaRPr lang="en-US"/>
          </a:p>
        </p:txBody>
      </p:sp>
      <p:sp>
        <p:nvSpPr>
          <p:cNvPr id="9" name="Content Placeholder 8">
            <a:extLst>
              <a:ext uri="{FF2B5EF4-FFF2-40B4-BE49-F238E27FC236}">
                <a16:creationId xmlns:a16="http://schemas.microsoft.com/office/drawing/2014/main" id="{954EA1D0-51CF-8163-FB4A-7AC3EE9EF439}"/>
              </a:ext>
            </a:extLst>
          </p:cNvPr>
          <p:cNvSpPr>
            <a:spLocks noGrp="1"/>
          </p:cNvSpPr>
          <p:nvPr>
            <p:ph idx="1"/>
          </p:nvPr>
        </p:nvSpPr>
        <p:spPr>
          <a:xfrm>
            <a:off x="457200" y="1447800"/>
            <a:ext cx="8229600" cy="4525963"/>
          </a:xfrm>
        </p:spPr>
        <p:txBody>
          <a:bodyPr/>
          <a:lstStyle/>
          <a:p>
            <a:pPr algn="just">
              <a:lnSpc>
                <a:spcPct val="150000"/>
              </a:lnSpc>
            </a:pPr>
            <a:r>
              <a:rPr lang="en-US" sz="2000" b="1" dirty="0">
                <a:solidFill>
                  <a:srgbClr val="0000FF"/>
                </a:solidFill>
              </a:rPr>
              <a:t>Enhance Residential Safety</a:t>
            </a:r>
            <a:r>
              <a:rPr lang="en-US" sz="2000" dirty="0"/>
              <a:t>: The system monitors temperature, humidity, and circuit breaker status in real time, ensuring optimal operating conditions and mitigating risks of electrical hazards.</a:t>
            </a:r>
          </a:p>
          <a:p>
            <a:pPr algn="just">
              <a:lnSpc>
                <a:spcPct val="150000"/>
              </a:lnSpc>
            </a:pPr>
            <a:r>
              <a:rPr lang="en-US" sz="2000" b="1" dirty="0">
                <a:solidFill>
                  <a:srgbClr val="0000FF"/>
                </a:solidFill>
              </a:rPr>
              <a:t>Enable Proactive Maintenance</a:t>
            </a:r>
            <a:r>
              <a:rPr lang="en-US" sz="2000" dirty="0"/>
              <a:t>: By integrating with the Adafruit IoT platform, the system allows homeowners to track and manage electrical health remotely, receiving alerts and detailed logs for timely intervention and minimizing downtime.</a:t>
            </a:r>
          </a:p>
          <a:p>
            <a:endParaRPr lang="en-IN" sz="2000" dirty="0"/>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sz="2400" b="1" dirty="0">
                <a:solidFill>
                  <a:srgbClr val="0000FF"/>
                </a:solidFill>
                <a:latin typeface="Arial" charset="0"/>
                <a:cs typeface="Arial" charset="0"/>
              </a:rPr>
              <a:t>Introduction</a:t>
            </a:r>
          </a:p>
        </p:txBody>
      </p:sp>
      <p:sp>
        <p:nvSpPr>
          <p:cNvPr id="3" name="Content Placeholder 2"/>
          <p:cNvSpPr>
            <a:spLocks noGrp="1"/>
          </p:cNvSpPr>
          <p:nvPr>
            <p:ph idx="1"/>
          </p:nvPr>
        </p:nvSpPr>
        <p:spPr>
          <a:xfrm>
            <a:off x="457200" y="1066800"/>
            <a:ext cx="8229600" cy="4525963"/>
          </a:xfrm>
        </p:spPr>
        <p:txBody>
          <a:bodyPr/>
          <a:lstStyle/>
          <a:p>
            <a:pPr algn="ctr">
              <a:lnSpc>
                <a:spcPct val="150000"/>
              </a:lnSpc>
              <a:buNone/>
            </a:pPr>
            <a:r>
              <a:rPr lang="en-US" sz="2400" b="1" dirty="0">
                <a:solidFill>
                  <a:srgbClr val="0000FF"/>
                </a:solidFill>
              </a:rPr>
              <a:t>CLOUD BASED MCB TRIP MONITORING SYSTEM USING IOT</a:t>
            </a:r>
          </a:p>
          <a:p>
            <a:pPr algn="just">
              <a:lnSpc>
                <a:spcPct val="150000"/>
              </a:lnSpc>
              <a:buNone/>
            </a:pPr>
            <a:r>
              <a:rPr lang="en-US" sz="2000" dirty="0"/>
              <a:t>      The Cloud-Based Domestic MCB (Miniature Circuit Breaker) Board Monitoring System is an innovative solution designed to enhance home safety by monitoring crucial electrical parameters in real time. By integrating advanced sensors to track temperature, humidity, and circuit breaker status, this system ensures optimal operating conditions for the electrical panel. The data is securely transmitted to the Adafruit IoT platform, providing homeowners with a user-friendly dashboard to monitor and manage the health of their home’s electrical infrastructure. This proactive approach minimizes risks, reduces downtime, and empowers homeowners to take timely action for maintenance and safety.</a:t>
            </a: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sz="2400" b="1" dirty="0">
                <a:solidFill>
                  <a:srgbClr val="0000FF"/>
                </a:solidFill>
                <a:latin typeface="Arial" charset="0"/>
                <a:cs typeface="Arial" charset="0"/>
              </a:rPr>
              <a:t>Literature Review</a:t>
            </a:r>
            <a:br>
              <a:rPr lang="en-US" sz="2400" b="1" dirty="0">
                <a:solidFill>
                  <a:srgbClr val="0000FF"/>
                </a:solidFill>
                <a:latin typeface="Arial" charset="0"/>
                <a:cs typeface="Arial" charset="0"/>
              </a:rPr>
            </a:br>
            <a:endParaRPr lang="en-US" sz="2400" b="1" dirty="0">
              <a:solidFill>
                <a:srgbClr val="0000FF"/>
              </a:solidFill>
              <a:latin typeface="Arial" charset="0"/>
              <a:cs typeface="Arial" charset="0"/>
            </a:endParaRP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6</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138951993"/>
              </p:ext>
            </p:extLst>
          </p:nvPr>
        </p:nvGraphicFramePr>
        <p:xfrm>
          <a:off x="381000" y="881905"/>
          <a:ext cx="8356802" cy="5047488"/>
        </p:xfrm>
        <a:graphic>
          <a:graphicData uri="http://schemas.openxmlformats.org/drawingml/2006/table">
            <a:tbl>
              <a:tblPr firstRow="1" bandRow="1">
                <a:tableStyleId>{775DCB02-9BB8-47FD-8907-85C794F793BA}</a:tableStyleId>
              </a:tblPr>
              <a:tblGrid>
                <a:gridCol w="736918">
                  <a:extLst>
                    <a:ext uri="{9D8B030D-6E8A-4147-A177-3AD203B41FA5}">
                      <a16:colId xmlns:a16="http://schemas.microsoft.com/office/drawing/2014/main" val="20000"/>
                    </a:ext>
                  </a:extLst>
                </a:gridCol>
                <a:gridCol w="2032346">
                  <a:extLst>
                    <a:ext uri="{9D8B030D-6E8A-4147-A177-3AD203B41FA5}">
                      <a16:colId xmlns:a16="http://schemas.microsoft.com/office/drawing/2014/main" val="20001"/>
                    </a:ext>
                  </a:extLst>
                </a:gridCol>
                <a:gridCol w="1359131">
                  <a:extLst>
                    <a:ext uri="{9D8B030D-6E8A-4147-A177-3AD203B41FA5}">
                      <a16:colId xmlns:a16="http://schemas.microsoft.com/office/drawing/2014/main" val="20002"/>
                    </a:ext>
                  </a:extLst>
                </a:gridCol>
                <a:gridCol w="1486153">
                  <a:extLst>
                    <a:ext uri="{9D8B030D-6E8A-4147-A177-3AD203B41FA5}">
                      <a16:colId xmlns:a16="http://schemas.microsoft.com/office/drawing/2014/main" val="20003"/>
                    </a:ext>
                  </a:extLst>
                </a:gridCol>
                <a:gridCol w="1232109">
                  <a:extLst>
                    <a:ext uri="{9D8B030D-6E8A-4147-A177-3AD203B41FA5}">
                      <a16:colId xmlns:a16="http://schemas.microsoft.com/office/drawing/2014/main" val="20004"/>
                    </a:ext>
                  </a:extLst>
                </a:gridCol>
                <a:gridCol w="1510145">
                  <a:extLst>
                    <a:ext uri="{9D8B030D-6E8A-4147-A177-3AD203B41FA5}">
                      <a16:colId xmlns:a16="http://schemas.microsoft.com/office/drawing/2014/main" val="20005"/>
                    </a:ext>
                  </a:extLst>
                </a:gridCol>
              </a:tblGrid>
              <a:tr h="838200">
                <a:tc>
                  <a:txBody>
                    <a:bodyPr/>
                    <a:lstStyle/>
                    <a:p>
                      <a:pPr algn="ctr"/>
                      <a:r>
                        <a:rPr lang="en-US" dirty="0" err="1"/>
                        <a:t>SI.No</a:t>
                      </a:r>
                      <a:endParaRPr lang="en-US" dirty="0"/>
                    </a:p>
                  </a:txBody>
                  <a:tcPr/>
                </a:tc>
                <a:tc>
                  <a:txBody>
                    <a:bodyPr/>
                    <a:lstStyle/>
                    <a:p>
                      <a:pPr algn="ctr"/>
                      <a:r>
                        <a:rPr lang="en-US" dirty="0"/>
                        <a:t>Title of the Paper</a:t>
                      </a:r>
                    </a:p>
                  </a:txBody>
                  <a:tcPr/>
                </a:tc>
                <a:tc>
                  <a:txBody>
                    <a:bodyPr/>
                    <a:lstStyle/>
                    <a:p>
                      <a:pPr algn="ctr"/>
                      <a:r>
                        <a:rPr lang="en-US" dirty="0"/>
                        <a:t>Year</a:t>
                      </a:r>
                      <a:r>
                        <a:rPr lang="en-US" baseline="0" dirty="0"/>
                        <a:t> of Publication</a:t>
                      </a:r>
                      <a:endParaRPr lang="en-US" dirty="0"/>
                    </a:p>
                  </a:txBody>
                  <a:tcPr/>
                </a:tc>
                <a:tc>
                  <a:txBody>
                    <a:bodyPr/>
                    <a:lstStyle/>
                    <a:p>
                      <a:pPr algn="ctr"/>
                      <a:r>
                        <a:rPr lang="en-US" dirty="0"/>
                        <a:t>Methodology</a:t>
                      </a:r>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10000"/>
                  </a:ext>
                </a:extLst>
              </a:tr>
              <a:tr h="1831848">
                <a:tc>
                  <a:txBody>
                    <a:bodyPr/>
                    <a:lstStyle/>
                    <a:p>
                      <a:r>
                        <a:rPr lang="en-US" dirty="0">
                          <a:solidFill>
                            <a:srgbClr val="000000"/>
                          </a:solidFill>
                        </a:rPr>
                        <a:t>1</a:t>
                      </a:r>
                    </a:p>
                  </a:txBody>
                  <a:tcPr/>
                </a:tc>
                <a:tc>
                  <a:txBody>
                    <a:bodyPr/>
                    <a:lstStyle/>
                    <a:p>
                      <a:pPr marL="0" indent="0" algn="just">
                        <a:buNone/>
                      </a:pPr>
                      <a:r>
                        <a:rPr lang="en-US" sz="1800" dirty="0">
                          <a:solidFill>
                            <a:srgbClr val="000000"/>
                          </a:solidFill>
                          <a:latin typeface="Arial" pitchFamily="34" charset="0"/>
                          <a:cs typeface="Arial" pitchFamily="34" charset="0"/>
                        </a:rPr>
                        <a:t>Design &amp; Implementation on IOT</a:t>
                      </a:r>
                    </a:p>
                    <a:p>
                      <a:pPr marL="0" indent="0" algn="just">
                        <a:buNone/>
                      </a:pPr>
                      <a:r>
                        <a:rPr lang="en-US" sz="1800" dirty="0">
                          <a:solidFill>
                            <a:srgbClr val="000000"/>
                          </a:solidFill>
                          <a:latin typeface="Arial" pitchFamily="34" charset="0"/>
                          <a:cs typeface="Arial" pitchFamily="34" charset="0"/>
                        </a:rPr>
                        <a:t>Based Residual Current Circuit</a:t>
                      </a:r>
                    </a:p>
                    <a:p>
                      <a:pPr marL="0" indent="0" algn="just">
                        <a:buNone/>
                      </a:pPr>
                      <a:r>
                        <a:rPr lang="en-US" sz="1800" dirty="0">
                          <a:solidFill>
                            <a:srgbClr val="000000"/>
                          </a:solidFill>
                          <a:latin typeface="Arial" pitchFamily="34" charset="0"/>
                          <a:cs typeface="Arial" pitchFamily="34" charset="0"/>
                        </a:rPr>
                        <a:t>Breaker</a:t>
                      </a:r>
                      <a:endParaRPr lang="en-US" sz="1800"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latin typeface="Arial" pitchFamily="34" charset="0"/>
                          <a:cs typeface="Arial" pitchFamily="34" charset="0"/>
                        </a:rPr>
                        <a:t>October 2022</a:t>
                      </a:r>
                      <a:endParaRPr lang="en-US" dirty="0">
                        <a:solidFill>
                          <a:srgbClr val="000000"/>
                        </a:solidFill>
                      </a:endParaRPr>
                    </a:p>
                    <a:p>
                      <a:endParaRPr lang="en-US" dirty="0"/>
                    </a:p>
                  </a:txBody>
                  <a:tcPr/>
                </a:tc>
                <a:tc>
                  <a:txBody>
                    <a:bodyPr/>
                    <a:lstStyle/>
                    <a:p>
                      <a:r>
                        <a:rPr lang="en-US" dirty="0">
                          <a:solidFill>
                            <a:srgbClr val="000000"/>
                          </a:solidFill>
                        </a:rPr>
                        <a:t>Micro Controller Based System</a:t>
                      </a:r>
                    </a:p>
                  </a:txBody>
                  <a:tcPr/>
                </a:tc>
                <a:tc>
                  <a:txBody>
                    <a:bodyPr/>
                    <a:lstStyle/>
                    <a:p>
                      <a:r>
                        <a:rPr lang="en-US" dirty="0">
                          <a:solidFill>
                            <a:srgbClr val="000000"/>
                          </a:solidFill>
                        </a:rPr>
                        <a:t>Accurate</a:t>
                      </a:r>
                    </a:p>
                  </a:txBody>
                  <a:tcPr/>
                </a:tc>
                <a:tc>
                  <a:txBody>
                    <a:bodyPr/>
                    <a:lstStyle/>
                    <a:p>
                      <a:r>
                        <a:rPr lang="en-US" dirty="0">
                          <a:solidFill>
                            <a:srgbClr val="000000"/>
                          </a:solidFill>
                        </a:rPr>
                        <a:t>SCADA System</a:t>
                      </a:r>
                    </a:p>
                  </a:txBody>
                  <a:tcPr/>
                </a:tc>
                <a:extLst>
                  <a:ext uri="{0D108BD9-81ED-4DB2-BD59-A6C34878D82A}">
                    <a16:rowId xmlns:a16="http://schemas.microsoft.com/office/drawing/2014/main" val="10001"/>
                  </a:ext>
                </a:extLst>
              </a:tr>
              <a:tr h="732739">
                <a:tc>
                  <a:txBody>
                    <a:bodyPr/>
                    <a:lstStyle/>
                    <a:p>
                      <a:r>
                        <a:rPr lang="en-US" dirty="0">
                          <a:solidFill>
                            <a:srgbClr val="000000"/>
                          </a:solidFill>
                        </a:rPr>
                        <a:t>2</a:t>
                      </a:r>
                    </a:p>
                  </a:txBody>
                  <a:tcPr/>
                </a:tc>
                <a:tc>
                  <a:txBody>
                    <a:bodyPr/>
                    <a:lstStyle/>
                    <a:p>
                      <a:pPr marL="0" indent="0" algn="just">
                        <a:buNone/>
                      </a:pPr>
                      <a:r>
                        <a:rPr lang="en-US" sz="1800" dirty="0">
                          <a:solidFill>
                            <a:srgbClr val="000000"/>
                          </a:solidFill>
                          <a:latin typeface="Arial" pitchFamily="34" charset="0"/>
                          <a:cs typeface="Arial" pitchFamily="34" charset="0"/>
                        </a:rPr>
                        <a:t>The X, Y and Z of Circuit Breaker</a:t>
                      </a:r>
                    </a:p>
                    <a:p>
                      <a:pPr marL="0" indent="0" algn="just">
                        <a:buNone/>
                      </a:pPr>
                      <a:r>
                        <a:rPr lang="en-US" sz="1800" dirty="0">
                          <a:solidFill>
                            <a:srgbClr val="000000"/>
                          </a:solidFill>
                          <a:latin typeface="Arial" pitchFamily="34" charset="0"/>
                          <a:cs typeface="Arial" pitchFamily="34" charset="0"/>
                        </a:rPr>
                        <a:t>Control</a:t>
                      </a:r>
                      <a:endParaRPr lang="en-US" dirty="0">
                        <a:solidFill>
                          <a:srgbClr val="000000"/>
                        </a:solidFill>
                      </a:endParaRPr>
                    </a:p>
                  </a:txBody>
                  <a:tcPr/>
                </a:tc>
                <a:tc>
                  <a:txBody>
                    <a:bodyPr/>
                    <a:lstStyle/>
                    <a:p>
                      <a:r>
                        <a:rPr lang="en-US" sz="1800" dirty="0">
                          <a:solidFill>
                            <a:srgbClr val="000000"/>
                          </a:solidFill>
                          <a:latin typeface="Arial" pitchFamily="34" charset="0"/>
                          <a:cs typeface="Arial" pitchFamily="34" charset="0"/>
                        </a:rPr>
                        <a:t>March 2017</a:t>
                      </a:r>
                      <a:endParaRPr lang="en-US"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rPr>
                        <a:t>Micro Controller Based System</a:t>
                      </a:r>
                    </a:p>
                    <a:p>
                      <a:endParaRPr lang="en-US" dirty="0">
                        <a:solidFill>
                          <a:srgbClr val="000000"/>
                        </a:solidFill>
                      </a:endParaRPr>
                    </a:p>
                  </a:txBody>
                  <a:tcPr/>
                </a:tc>
                <a:tc>
                  <a:txBody>
                    <a:bodyPr/>
                    <a:lstStyle/>
                    <a:p>
                      <a:r>
                        <a:rPr lang="en-US" dirty="0">
                          <a:solidFill>
                            <a:srgbClr val="000000"/>
                          </a:solidFill>
                        </a:rPr>
                        <a:t>Accurate</a:t>
                      </a:r>
                    </a:p>
                  </a:txBody>
                  <a:tcPr/>
                </a:tc>
                <a:tc>
                  <a:txBody>
                    <a:bodyPr/>
                    <a:lstStyle/>
                    <a:p>
                      <a:r>
                        <a:rPr lang="en-US" dirty="0">
                          <a:solidFill>
                            <a:srgbClr val="000000"/>
                          </a:solidFill>
                        </a:rPr>
                        <a:t>Slow</a:t>
                      </a:r>
                    </a:p>
                  </a:txBody>
                  <a:tcPr/>
                </a:tc>
                <a:extLst>
                  <a:ext uri="{0D108BD9-81ED-4DB2-BD59-A6C34878D82A}">
                    <a16:rowId xmlns:a16="http://schemas.microsoft.com/office/drawing/2014/main" val="10002"/>
                  </a:ext>
                </a:extLst>
              </a:tr>
              <a:tr h="952561">
                <a:tc>
                  <a:txBody>
                    <a:bodyPr/>
                    <a:lstStyle/>
                    <a:p>
                      <a:r>
                        <a:rPr lang="en-US" dirty="0">
                          <a:solidFill>
                            <a:srgbClr val="000000"/>
                          </a:solidFill>
                        </a:rPr>
                        <a:t>3</a:t>
                      </a:r>
                    </a:p>
                  </a:txBody>
                  <a:tcPr/>
                </a:tc>
                <a:tc>
                  <a:txBody>
                    <a:bodyPr/>
                    <a:lstStyle/>
                    <a:p>
                      <a:pPr marL="0" indent="0" algn="just">
                        <a:buNone/>
                      </a:pPr>
                      <a:r>
                        <a:rPr lang="en-US" sz="1800" dirty="0">
                          <a:solidFill>
                            <a:srgbClr val="000000"/>
                          </a:solidFill>
                          <a:latin typeface="Arial" pitchFamily="34" charset="0"/>
                          <a:cs typeface="Arial" pitchFamily="34" charset="0"/>
                        </a:rPr>
                        <a:t>Real-Time</a:t>
                      </a:r>
                    </a:p>
                    <a:p>
                      <a:pPr marL="0" indent="0" algn="just">
                        <a:buNone/>
                      </a:pPr>
                      <a:r>
                        <a:rPr lang="en-US" sz="1800" dirty="0">
                          <a:solidFill>
                            <a:srgbClr val="000000"/>
                          </a:solidFill>
                          <a:latin typeface="Arial" pitchFamily="34" charset="0"/>
                          <a:cs typeface="Arial" pitchFamily="34" charset="0"/>
                        </a:rPr>
                        <a:t>Circuit Breaker Health Diagnostics</a:t>
                      </a:r>
                      <a:endParaRPr lang="en-US" dirty="0">
                        <a:solidFill>
                          <a:srgbClr val="000000"/>
                        </a:solidFill>
                      </a:endParaRPr>
                    </a:p>
                  </a:txBody>
                  <a:tcPr/>
                </a:tc>
                <a:tc>
                  <a:txBody>
                    <a:bodyPr/>
                    <a:lstStyle/>
                    <a:p>
                      <a:r>
                        <a:rPr lang="en-US" sz="1800" dirty="0">
                          <a:solidFill>
                            <a:srgbClr val="000000"/>
                          </a:solidFill>
                          <a:latin typeface="Arial" pitchFamily="34" charset="0"/>
                          <a:cs typeface="Arial" pitchFamily="34" charset="0"/>
                        </a:rPr>
                        <a:t>October 2016</a:t>
                      </a:r>
                      <a:endParaRPr lang="en-US"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rPr>
                        <a:t>Micro Controller Based System</a:t>
                      </a:r>
                    </a:p>
                    <a:p>
                      <a:endParaRPr lang="en-US" dirty="0">
                        <a:solidFill>
                          <a:srgbClr val="000000"/>
                        </a:solidFill>
                      </a:endParaRPr>
                    </a:p>
                  </a:txBody>
                  <a:tcPr/>
                </a:tc>
                <a:tc>
                  <a:txBody>
                    <a:bodyPr/>
                    <a:lstStyle/>
                    <a:p>
                      <a:r>
                        <a:rPr lang="en-US" dirty="0">
                          <a:solidFill>
                            <a:srgbClr val="000000"/>
                          </a:solidFill>
                        </a:rPr>
                        <a:t>Fast</a:t>
                      </a:r>
                    </a:p>
                  </a:txBody>
                  <a:tcPr/>
                </a:tc>
                <a:tc>
                  <a:txBody>
                    <a:bodyPr/>
                    <a:lstStyle/>
                    <a:p>
                      <a:r>
                        <a:rPr lang="en-US" dirty="0">
                          <a:solidFill>
                            <a:srgbClr val="000000"/>
                          </a:solidFill>
                        </a:rPr>
                        <a:t>Large data packet</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rgbClr val="0000FF"/>
                </a:solidFill>
                <a:latin typeface="Arial" pitchFamily="34" charset="0"/>
                <a:cs typeface="Arial" pitchFamily="34" charset="0"/>
              </a:rPr>
              <a:t>Problem Statement</a:t>
            </a:r>
          </a:p>
        </p:txBody>
      </p:sp>
      <p:sp>
        <p:nvSpPr>
          <p:cNvPr id="3" name="Content Placeholder 2"/>
          <p:cNvSpPr>
            <a:spLocks noGrp="1"/>
          </p:cNvSpPr>
          <p:nvPr>
            <p:ph idx="1"/>
          </p:nvPr>
        </p:nvSpPr>
        <p:spPr>
          <a:xfrm>
            <a:off x="457200" y="1447800"/>
            <a:ext cx="8229600" cy="4525963"/>
          </a:xfrm>
        </p:spPr>
        <p:txBody>
          <a:bodyPr/>
          <a:lstStyle/>
          <a:p>
            <a:pPr algn="just">
              <a:lnSpc>
                <a:spcPct val="150000"/>
              </a:lnSpc>
            </a:pPr>
            <a:r>
              <a:rPr lang="en-US" sz="2000" dirty="0"/>
              <a:t>The increasing reliance on electrical systems in modern homes has heightened the risk of electrical hazards such as overheating, short circuits, and overloads. Traditional methods of monitoring electrical panels are reactive, often detecting issues only after they have caused damage. There is a need for a more proactive and accessible solution that enables homeowners to monitor critical parameters like temperature, humidity, and circuit breaker status in real time. Without such a system, homeowners are left vulnerable to potential safety risks and maintenance delays, which can lead to significant property damage or injury.</a:t>
            </a: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dirty="0"/>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rgbClr val="0000FF"/>
                </a:solidFill>
                <a:latin typeface="Arial" pitchFamily="34" charset="0"/>
                <a:cs typeface="Arial" pitchFamily="34" charset="0"/>
              </a:rPr>
              <a:t>Proposed Work</a:t>
            </a:r>
            <a:br>
              <a:rPr lang="en-US" sz="2400" b="1" dirty="0">
                <a:solidFill>
                  <a:srgbClr val="0000FF"/>
                </a:solidFill>
                <a:latin typeface="Arial" pitchFamily="34" charset="0"/>
                <a:cs typeface="Arial" pitchFamily="34" charset="0"/>
              </a:rPr>
            </a:br>
            <a:endParaRPr lang="en-US" sz="2400" b="1" dirty="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8</a:t>
            </a:fld>
            <a:endParaRPr lang="en-US"/>
          </a:p>
        </p:txBody>
      </p:sp>
      <p:sp>
        <p:nvSpPr>
          <p:cNvPr id="9" name="Content Placeholder 8">
            <a:extLst>
              <a:ext uri="{FF2B5EF4-FFF2-40B4-BE49-F238E27FC236}">
                <a16:creationId xmlns:a16="http://schemas.microsoft.com/office/drawing/2014/main" id="{3484653F-E971-BF8A-B256-4B359A931287}"/>
              </a:ext>
            </a:extLst>
          </p:cNvPr>
          <p:cNvSpPr>
            <a:spLocks noGrp="1"/>
          </p:cNvSpPr>
          <p:nvPr>
            <p:ph idx="1"/>
          </p:nvPr>
        </p:nvSpPr>
        <p:spPr>
          <a:xfrm>
            <a:off x="457200" y="1166018"/>
            <a:ext cx="8229600" cy="4525963"/>
          </a:xfrm>
        </p:spPr>
        <p:txBody>
          <a:bodyPr/>
          <a:lstStyle/>
          <a:p>
            <a:pPr algn="just">
              <a:lnSpc>
                <a:spcPct val="150000"/>
              </a:lnSpc>
            </a:pPr>
            <a:r>
              <a:rPr lang="en-US" sz="2000" dirty="0"/>
              <a:t>The proposed solution is the Cloud-Based Domestic MCB Board Monitoring System, which integrates advanced sensors to monitor temperature, humidity, and circuit breaker status in real time. By leveraging IoT technology and cloud connectivity, this system provides homeowners with immediate access to critical data through a secure and user-friendly dashboard. This enables proactive monitoring, timely maintenance, and enhanced safety by alerting users to potential hazards before they escalate into serious issues. The system ensures data privacy and security through encryption, offering a reliable, innovative approach to home electrical safety.</a:t>
            </a:r>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FCB88-E85C-C187-38EA-F8DF01FFA062}"/>
              </a:ext>
            </a:extLst>
          </p:cNvPr>
          <p:cNvSpPr>
            <a:spLocks noGrp="1"/>
          </p:cNvSpPr>
          <p:nvPr>
            <p:ph type="title"/>
          </p:nvPr>
        </p:nvSpPr>
        <p:spPr/>
        <p:txBody>
          <a:bodyPr/>
          <a:lstStyle/>
          <a:p>
            <a:r>
              <a:rPr kumimoji="0" lang="en-US" sz="2400" b="1" i="0" u="none" strike="noStrike" kern="1200" cap="none" spc="0" normalizeH="0" baseline="0" noProof="0" dirty="0">
                <a:ln>
                  <a:noFill/>
                </a:ln>
                <a:solidFill>
                  <a:srgbClr val="0000FF"/>
                </a:solidFill>
                <a:effectLst/>
                <a:uLnTx/>
                <a:uFillTx/>
                <a:latin typeface="Arial" pitchFamily="34" charset="0"/>
                <a:ea typeface="+mj-ea"/>
                <a:cs typeface="Arial" pitchFamily="34" charset="0"/>
              </a:rPr>
              <a:t>FLOW MATRIX</a:t>
            </a:r>
            <a:endParaRPr lang="en-IN" dirty="0"/>
          </a:p>
        </p:txBody>
      </p:sp>
      <p:sp>
        <p:nvSpPr>
          <p:cNvPr id="4" name="Date Placeholder 3">
            <a:extLst>
              <a:ext uri="{FF2B5EF4-FFF2-40B4-BE49-F238E27FC236}">
                <a16:creationId xmlns:a16="http://schemas.microsoft.com/office/drawing/2014/main" id="{F4CF44E4-3DE8-773F-6457-0F11CEC7ADD1}"/>
              </a:ext>
            </a:extLst>
          </p:cNvPr>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a:extLst>
              <a:ext uri="{FF2B5EF4-FFF2-40B4-BE49-F238E27FC236}">
                <a16:creationId xmlns:a16="http://schemas.microsoft.com/office/drawing/2014/main" id="{1910542C-1482-D86A-EC6C-C9E7E53EDFE8}"/>
              </a:ext>
            </a:extLst>
          </p:cNvPr>
          <p:cNvSpPr>
            <a:spLocks noGrp="1"/>
          </p:cNvSpPr>
          <p:nvPr>
            <p:ph type="sldNum" sz="quarter" idx="12"/>
          </p:nvPr>
        </p:nvSpPr>
        <p:spPr/>
        <p:txBody>
          <a:bodyPr/>
          <a:lstStyle/>
          <a:p>
            <a:pPr>
              <a:defRPr/>
            </a:pPr>
            <a:fld id="{55B20AF8-172C-4624-9675-EFA1EACB580C}" type="slidenum">
              <a:rPr lang="en-US" smtClean="0"/>
              <a:pPr>
                <a:defRPr/>
              </a:pPr>
              <a:t>9</a:t>
            </a:fld>
            <a:endParaRPr lang="en-US"/>
          </a:p>
        </p:txBody>
      </p:sp>
      <p:pic>
        <p:nvPicPr>
          <p:cNvPr id="7" name="Content Placeholder 6">
            <a:extLst>
              <a:ext uri="{FF2B5EF4-FFF2-40B4-BE49-F238E27FC236}">
                <a16:creationId xmlns:a16="http://schemas.microsoft.com/office/drawing/2014/main" id="{8CF67B33-3E11-1EF5-512D-CF7D5E214AD0}"/>
              </a:ext>
            </a:extLst>
          </p:cNvPr>
          <p:cNvPicPr>
            <a:picLocks noGrp="1" noChangeAspect="1"/>
          </p:cNvPicPr>
          <p:nvPr>
            <p:ph idx="1"/>
          </p:nvPr>
        </p:nvPicPr>
        <p:blipFill>
          <a:blip r:embed="rId2"/>
          <a:stretch>
            <a:fillRect/>
          </a:stretch>
        </p:blipFill>
        <p:spPr>
          <a:xfrm>
            <a:off x="838200" y="1566602"/>
            <a:ext cx="7611537" cy="3724795"/>
          </a:xfrm>
        </p:spPr>
      </p:pic>
    </p:spTree>
    <p:extLst>
      <p:ext uri="{BB962C8B-B14F-4D97-AF65-F5344CB8AC3E}">
        <p14:creationId xmlns:p14="http://schemas.microsoft.com/office/powerpoint/2010/main" val="3732483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C9F8-BDBB-B3BC-8E8F-6B73072C2152}"/>
              </a:ext>
            </a:extLst>
          </p:cNvPr>
          <p:cNvSpPr>
            <a:spLocks noGrp="1"/>
          </p:cNvSpPr>
          <p:nvPr>
            <p:ph type="title"/>
          </p:nvPr>
        </p:nvSpPr>
        <p:spPr/>
        <p:txBody>
          <a:bodyPr/>
          <a:lstStyle/>
          <a:p>
            <a:r>
              <a:rPr kumimoji="0" lang="en-US" sz="2400" b="1" i="0" u="none" strike="noStrike" kern="1200" cap="none" spc="0" normalizeH="0" baseline="0" noProof="0" dirty="0">
                <a:ln>
                  <a:noFill/>
                </a:ln>
                <a:solidFill>
                  <a:srgbClr val="0000FF"/>
                </a:solidFill>
                <a:effectLst/>
                <a:uLnTx/>
                <a:uFillTx/>
                <a:latin typeface="Arial" pitchFamily="34" charset="0"/>
                <a:ea typeface="+mj-ea"/>
                <a:cs typeface="Arial" pitchFamily="34" charset="0"/>
              </a:rPr>
              <a:t>FLOW MATRIX</a:t>
            </a:r>
            <a:endParaRPr lang="en-IN" dirty="0"/>
          </a:p>
        </p:txBody>
      </p:sp>
      <p:sp>
        <p:nvSpPr>
          <p:cNvPr id="3" name="Content Placeholder 2">
            <a:extLst>
              <a:ext uri="{FF2B5EF4-FFF2-40B4-BE49-F238E27FC236}">
                <a16:creationId xmlns:a16="http://schemas.microsoft.com/office/drawing/2014/main" id="{0FE226BA-4691-D1FC-9D57-4BDA1338A8FE}"/>
              </a:ext>
            </a:extLst>
          </p:cNvPr>
          <p:cNvSpPr>
            <a:spLocks noGrp="1"/>
          </p:cNvSpPr>
          <p:nvPr>
            <p:ph idx="1"/>
          </p:nvPr>
        </p:nvSpPr>
        <p:spPr>
          <a:xfrm>
            <a:off x="445316" y="1166018"/>
            <a:ext cx="8229600" cy="4525963"/>
          </a:xfrm>
        </p:spPr>
        <p:txBody>
          <a:bodyPr/>
          <a:lstStyle/>
          <a:p>
            <a:r>
              <a:rPr lang="en-US" sz="2000" dirty="0"/>
              <a:t>Data Collection: Sensors installed in the electrical panel continuously monitor key parameters such as temperature, humidity, and circuit breaker status.</a:t>
            </a:r>
          </a:p>
          <a:p>
            <a:r>
              <a:rPr lang="en-US" sz="2000" dirty="0"/>
              <a:t>Data Transmission: The collected data is transmitted wirelessly to a secure cloud platform (e.g., Adafruit IoT), ensuring real-time updates.</a:t>
            </a:r>
          </a:p>
          <a:p>
            <a:r>
              <a:rPr lang="en-US" sz="2000" dirty="0"/>
              <a:t>Data Storage and Processing: The IoT platform stores and processes the incoming data, enabling historical data analysis and identifying any trends or abnormalities.</a:t>
            </a:r>
          </a:p>
          <a:p>
            <a:r>
              <a:rPr lang="en-US" sz="2000" dirty="0"/>
              <a:t>User Interface: Homeowners can access the cloud platform’s user-friendly dashboard to view real-time data and historical trends, monitor their electrical system’s health, and review trip logs.</a:t>
            </a:r>
          </a:p>
          <a:p>
            <a:r>
              <a:rPr lang="en-US" sz="2000" dirty="0"/>
              <a:t>Alerts and Notifications: The system sends customizable notifications to homeowners regarding critical events such as circuit breaker trips or abnormal temperature/humidity readings, allowing for immediate action.</a:t>
            </a:r>
            <a:endParaRPr lang="en-IN" sz="2000" dirty="0"/>
          </a:p>
        </p:txBody>
      </p:sp>
      <p:sp>
        <p:nvSpPr>
          <p:cNvPr id="4" name="Date Placeholder 3">
            <a:extLst>
              <a:ext uri="{FF2B5EF4-FFF2-40B4-BE49-F238E27FC236}">
                <a16:creationId xmlns:a16="http://schemas.microsoft.com/office/drawing/2014/main" id="{0B79D52B-99FF-B9F2-2062-3AF7E47F1550}"/>
              </a:ext>
            </a:extLst>
          </p:cNvPr>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a:extLst>
              <a:ext uri="{FF2B5EF4-FFF2-40B4-BE49-F238E27FC236}">
                <a16:creationId xmlns:a16="http://schemas.microsoft.com/office/drawing/2014/main" id="{2686F55E-8BE9-8973-991C-831AE9F47BD8}"/>
              </a:ext>
            </a:extLst>
          </p:cNvPr>
          <p:cNvSpPr>
            <a:spLocks noGrp="1"/>
          </p:cNvSpPr>
          <p:nvPr>
            <p:ph type="sldNum" sz="quarter" idx="12"/>
          </p:nvPr>
        </p:nvSpPr>
        <p:spPr/>
        <p:txBody>
          <a:bodyPr/>
          <a:lstStyle/>
          <a:p>
            <a:pPr>
              <a:defRPr/>
            </a:pPr>
            <a:fld id="{55B20AF8-172C-4624-9675-EFA1EACB580C}" type="slidenum">
              <a:rPr lang="en-US" smtClean="0"/>
              <a:pPr>
                <a:defRPr/>
              </a:pPr>
              <a:t>10</a:t>
            </a:fld>
            <a:endParaRPr lang="en-US"/>
          </a:p>
        </p:txBody>
      </p:sp>
    </p:spTree>
    <p:extLst>
      <p:ext uri="{BB962C8B-B14F-4D97-AF65-F5344CB8AC3E}">
        <p14:creationId xmlns:p14="http://schemas.microsoft.com/office/powerpoint/2010/main" val="1825131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63562"/>
          </a:xfrm>
        </p:spPr>
        <p:txBody>
          <a:bodyPr/>
          <a:lstStyle/>
          <a:p>
            <a:br>
              <a:rPr lang="en-US" sz="2400" b="1" dirty="0">
                <a:solidFill>
                  <a:srgbClr val="0000FF"/>
                </a:solidFill>
                <a:latin typeface="Arial" pitchFamily="34" charset="0"/>
                <a:cs typeface="Arial" pitchFamily="34" charset="0"/>
              </a:rPr>
            </a:br>
            <a:br>
              <a:rPr lang="en-US" sz="2400" b="1" dirty="0">
                <a:solidFill>
                  <a:srgbClr val="0000FF"/>
                </a:solidFill>
                <a:latin typeface="Arial" pitchFamily="34" charset="0"/>
                <a:cs typeface="Arial" pitchFamily="34" charset="0"/>
              </a:rPr>
            </a:br>
            <a:r>
              <a:rPr lang="en-US" sz="2400" b="1" dirty="0">
                <a:solidFill>
                  <a:srgbClr val="0000FF"/>
                </a:solidFill>
                <a:latin typeface="Arial" pitchFamily="34" charset="0"/>
                <a:cs typeface="Arial" pitchFamily="34" charset="0"/>
              </a:rPr>
              <a:t>Simulation Tool/ Equipments/ Components</a:t>
            </a:r>
            <a:br>
              <a:rPr lang="en-US" dirty="0"/>
            </a:br>
            <a:endParaRPr lang="en-US" dirty="0"/>
          </a:p>
        </p:txBody>
      </p:sp>
      <p:sp>
        <p:nvSpPr>
          <p:cNvPr id="3" name="Content Placeholder 2"/>
          <p:cNvSpPr>
            <a:spLocks noGrp="1"/>
          </p:cNvSpPr>
          <p:nvPr>
            <p:ph idx="1"/>
          </p:nvPr>
        </p:nvSpPr>
        <p:spPr>
          <a:xfrm>
            <a:off x="457200" y="1371600"/>
            <a:ext cx="8229600" cy="4525963"/>
          </a:xfrm>
        </p:spPr>
        <p:txBody>
          <a:bodyPr/>
          <a:lstStyle/>
          <a:p>
            <a:pPr algn="just"/>
            <a:r>
              <a:rPr lang="en-US" sz="2000" b="1" dirty="0"/>
              <a:t>Arduino Uno Board</a:t>
            </a:r>
            <a:r>
              <a:rPr lang="en-US" sz="2000" dirty="0"/>
              <a:t>: Used for trip monitoring and detecting circuit breaker trips.</a:t>
            </a:r>
          </a:p>
          <a:p>
            <a:pPr algn="just"/>
            <a:r>
              <a:rPr lang="en-US" sz="2000" b="1" dirty="0"/>
              <a:t>Adafruit Website</a:t>
            </a:r>
            <a:r>
              <a:rPr lang="en-US" sz="2000" dirty="0"/>
              <a:t>: Platform for displaying trip data and other monitoring details.</a:t>
            </a:r>
          </a:p>
          <a:p>
            <a:pPr algn="just"/>
            <a:r>
              <a:rPr lang="en-US" sz="2000" b="1" dirty="0"/>
              <a:t>SD Card Module</a:t>
            </a:r>
            <a:r>
              <a:rPr lang="en-US" sz="2000" dirty="0"/>
              <a:t>: Logs and stores trip data locally with timestamped records.</a:t>
            </a:r>
          </a:p>
          <a:p>
            <a:pPr algn="just"/>
            <a:r>
              <a:rPr lang="en-US" sz="2000" b="1" dirty="0"/>
              <a:t>Temperature Sensors</a:t>
            </a:r>
            <a:r>
              <a:rPr lang="en-US" sz="2000" dirty="0"/>
              <a:t>: Monitor temperature within the MCB board.</a:t>
            </a:r>
          </a:p>
          <a:p>
            <a:pPr algn="just"/>
            <a:r>
              <a:rPr lang="en-US" sz="2000" b="1" dirty="0"/>
              <a:t>Water Sensors</a:t>
            </a:r>
            <a:r>
              <a:rPr lang="en-US" sz="2000" dirty="0"/>
              <a:t>: Detect water presence inside the MCB board and send alerts.</a:t>
            </a:r>
          </a:p>
          <a:p>
            <a:pPr algn="just"/>
            <a:r>
              <a:rPr lang="en-US" sz="2000" b="1" dirty="0"/>
              <a:t>ESP8266 Wi-Fi Module</a:t>
            </a:r>
            <a:r>
              <a:rPr lang="en-US" sz="2000" dirty="0"/>
              <a:t>: Provides wireless communication for seamless data transmission.</a:t>
            </a:r>
          </a:p>
          <a:p>
            <a:pPr algn="just"/>
            <a:r>
              <a:rPr lang="en-US" sz="2000" b="1" dirty="0"/>
              <a:t>Arduino Nano Board</a:t>
            </a:r>
            <a:r>
              <a:rPr lang="en-US" sz="2000" dirty="0"/>
              <a:t>: Facilitates serial communication between components.</a:t>
            </a: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rgbClr val="0000FF"/>
                </a:solidFill>
                <a:latin typeface="Arial" pitchFamily="34" charset="0"/>
                <a:cs typeface="Arial" pitchFamily="34" charset="0"/>
              </a:rPr>
              <a:t>Conclusion</a:t>
            </a:r>
          </a:p>
        </p:txBody>
      </p:sp>
      <p:sp>
        <p:nvSpPr>
          <p:cNvPr id="3" name="Content Placeholder 2"/>
          <p:cNvSpPr>
            <a:spLocks noGrp="1"/>
          </p:cNvSpPr>
          <p:nvPr>
            <p:ph idx="1"/>
          </p:nvPr>
        </p:nvSpPr>
        <p:spPr>
          <a:xfrm>
            <a:off x="381000" y="1166018"/>
            <a:ext cx="8229600" cy="4525963"/>
          </a:xfrm>
        </p:spPr>
        <p:txBody>
          <a:bodyPr/>
          <a:lstStyle/>
          <a:p>
            <a:pPr algn="just">
              <a:lnSpc>
                <a:spcPct val="150000"/>
              </a:lnSpc>
              <a:buNone/>
            </a:pPr>
            <a:r>
              <a:rPr lang="en-US" sz="2000" dirty="0"/>
              <a:t>      The Cloud-Based Domestic MCB Board Monitoring System offers a significant advancement in home electrical safety by enabling real-time monitoring of critical parameters. Through seamless integration with IoT technology and cloud connectivity, the system empowers homeowners to take proactive measures in maintaining their electrical systems, reducing the risks of electrical hazards, and ensuring optimal performance. By providing a user-friendly interface, detailed analytics, and timely notifications, the system enhances overall home safety while offering convenience and peace of mind. This innovative approach not only addresses the limitations of traditional monitoring methods but also sets a new standard for residential electrical management.</a:t>
            </a:r>
          </a:p>
        </p:txBody>
      </p:sp>
      <p:sp>
        <p:nvSpPr>
          <p:cNvPr id="4" name="Date Placeholder 3"/>
          <p:cNvSpPr>
            <a:spLocks noGrp="1"/>
          </p:cNvSpPr>
          <p:nvPr>
            <p:ph type="dt" sz="half" idx="10"/>
          </p:nvPr>
        </p:nvSpPr>
        <p:spPr/>
        <p:txBody>
          <a:bodyPr/>
          <a:lstStyle/>
          <a:p>
            <a:pPr>
              <a:defRPr/>
            </a:pPr>
            <a:fld id="{F2166180-E018-4CE5-989D-0BC1BAFB7566}"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914400"/>
          </a:xfrm>
        </p:spPr>
        <p:txBody>
          <a:bodyPr/>
          <a:lstStyle/>
          <a:p>
            <a:r>
              <a:rPr lang="en-US" sz="2400" dirty="0">
                <a:solidFill>
                  <a:srgbClr val="0000FF"/>
                </a:solidFill>
                <a:latin typeface="Arial" pitchFamily="34" charset="0"/>
                <a:cs typeface="Arial" pitchFamily="34" charset="0"/>
              </a:rPr>
              <a:t>References</a:t>
            </a:r>
          </a:p>
        </p:txBody>
      </p:sp>
      <p:sp>
        <p:nvSpPr>
          <p:cNvPr id="3" name="Content Placeholder 2"/>
          <p:cNvSpPr>
            <a:spLocks noGrp="1"/>
          </p:cNvSpPr>
          <p:nvPr>
            <p:ph idx="1"/>
          </p:nvPr>
        </p:nvSpPr>
        <p:spPr>
          <a:xfrm>
            <a:off x="228600" y="990600"/>
            <a:ext cx="8458200" cy="5638800"/>
          </a:xfrm>
        </p:spPr>
        <p:txBody>
          <a:bodyPr/>
          <a:lstStyle/>
          <a:p>
            <a:pPr marL="0" indent="0" algn="just">
              <a:buNone/>
            </a:pPr>
            <a:r>
              <a:rPr lang="en-US" sz="2000" dirty="0">
                <a:solidFill>
                  <a:srgbClr val="CC508E"/>
                </a:solidFill>
                <a:latin typeface="Arial" pitchFamily="34" charset="0"/>
                <a:cs typeface="Arial" pitchFamily="34" charset="0"/>
              </a:rPr>
              <a:t>[1] R. </a:t>
            </a:r>
            <a:r>
              <a:rPr lang="en-US" sz="2000" dirty="0" err="1">
                <a:solidFill>
                  <a:srgbClr val="CC508E"/>
                </a:solidFill>
                <a:latin typeface="Arial" pitchFamily="34" charset="0"/>
                <a:cs typeface="Arial" pitchFamily="34" charset="0"/>
              </a:rPr>
              <a:t>Bangale</a:t>
            </a:r>
            <a:r>
              <a:rPr lang="en-US" sz="2000" dirty="0">
                <a:solidFill>
                  <a:srgbClr val="CC508E"/>
                </a:solidFill>
                <a:latin typeface="Arial" pitchFamily="34" charset="0"/>
                <a:cs typeface="Arial" pitchFamily="34" charset="0"/>
              </a:rPr>
              <a:t>, P. </a:t>
            </a:r>
            <a:r>
              <a:rPr lang="en-US" sz="2000" dirty="0" err="1">
                <a:solidFill>
                  <a:srgbClr val="CC508E"/>
                </a:solidFill>
                <a:latin typeface="Arial" pitchFamily="34" charset="0"/>
                <a:cs typeface="Arial" pitchFamily="34" charset="0"/>
              </a:rPr>
              <a:t>Gangane</a:t>
            </a:r>
            <a:r>
              <a:rPr lang="en-US" sz="2000" dirty="0">
                <a:solidFill>
                  <a:srgbClr val="CC508E"/>
                </a:solidFill>
                <a:latin typeface="Arial" pitchFamily="34" charset="0"/>
                <a:cs typeface="Arial" pitchFamily="34" charset="0"/>
              </a:rPr>
              <a:t>, R. </a:t>
            </a:r>
            <a:r>
              <a:rPr lang="en-US" sz="2000" dirty="0" err="1">
                <a:solidFill>
                  <a:srgbClr val="CC508E"/>
                </a:solidFill>
                <a:latin typeface="Arial" pitchFamily="34" charset="0"/>
                <a:cs typeface="Arial" pitchFamily="34" charset="0"/>
              </a:rPr>
              <a:t>Wankadhe</a:t>
            </a:r>
            <a:r>
              <a:rPr lang="en-US" sz="2000" dirty="0">
                <a:solidFill>
                  <a:srgbClr val="CC508E"/>
                </a:solidFill>
                <a:latin typeface="Arial" pitchFamily="34" charset="0"/>
                <a:cs typeface="Arial" pitchFamily="34" charset="0"/>
              </a:rPr>
              <a:t>, V. </a:t>
            </a:r>
            <a:r>
              <a:rPr lang="en-US" sz="2000" dirty="0" err="1">
                <a:solidFill>
                  <a:srgbClr val="CC508E"/>
                </a:solidFill>
                <a:latin typeface="Arial" pitchFamily="34" charset="0"/>
                <a:cs typeface="Arial" pitchFamily="34" charset="0"/>
              </a:rPr>
              <a:t>Mandwale</a:t>
            </a:r>
            <a:r>
              <a:rPr lang="en-US" sz="2000" dirty="0">
                <a:solidFill>
                  <a:srgbClr val="CC508E"/>
                </a:solidFill>
                <a:latin typeface="Arial" pitchFamily="34" charset="0"/>
                <a:cs typeface="Arial" pitchFamily="34" charset="0"/>
              </a:rPr>
              <a:t>, and S. B. </a:t>
            </a:r>
            <a:r>
              <a:rPr lang="en-US" sz="2000" dirty="0" err="1">
                <a:solidFill>
                  <a:srgbClr val="CC508E"/>
                </a:solidFill>
                <a:latin typeface="Arial" pitchFamily="34" charset="0"/>
                <a:cs typeface="Arial" pitchFamily="34" charset="0"/>
              </a:rPr>
              <a:t>Warkad</a:t>
            </a:r>
            <a:r>
              <a:rPr lang="en-US" sz="2000" dirty="0">
                <a:solidFill>
                  <a:srgbClr val="CC508E"/>
                </a:solidFill>
                <a:latin typeface="Arial" pitchFamily="34" charset="0"/>
                <a:cs typeface="Arial" pitchFamily="34" charset="0"/>
              </a:rPr>
              <a:t>, "Design and Implementation on IoT-Based Residual Current Circuit Breaker," P R Pote (Patil) College of Engineering and Management, Amravati, India.</a:t>
            </a:r>
            <a:endParaRPr lang="en-US" sz="2000" dirty="0">
              <a:solidFill>
                <a:srgbClr val="002060"/>
              </a:solidFill>
              <a:latin typeface="Arial" pitchFamily="34" charset="0"/>
              <a:cs typeface="Arial" pitchFamily="34" charset="0"/>
            </a:endParaRPr>
          </a:p>
          <a:p>
            <a:pPr marL="0" indent="0" algn="just">
              <a:buNone/>
            </a:pPr>
            <a:r>
              <a:rPr lang="en-US" sz="2000" dirty="0">
                <a:solidFill>
                  <a:srgbClr val="CC508E"/>
                </a:solidFill>
                <a:latin typeface="Arial" pitchFamily="34" charset="0"/>
                <a:cs typeface="Arial" pitchFamily="34" charset="0"/>
              </a:rPr>
              <a:t>[2] Brent L. Carper, Principal Engineer, “The X, Y and Z of Circuit Breaker</a:t>
            </a:r>
          </a:p>
          <a:p>
            <a:pPr marL="0" indent="0" algn="just">
              <a:buNone/>
            </a:pPr>
            <a:r>
              <a:rPr lang="en-US" sz="2000" dirty="0">
                <a:solidFill>
                  <a:srgbClr val="CC508E"/>
                </a:solidFill>
                <a:latin typeface="Arial" pitchFamily="34" charset="0"/>
                <a:cs typeface="Arial" pitchFamily="34" charset="0"/>
              </a:rPr>
              <a:t>Control”, 34th Annual Hands-On Relay School, March 2017.</a:t>
            </a:r>
          </a:p>
          <a:p>
            <a:pPr marL="0" indent="0" algn="just">
              <a:buNone/>
            </a:pPr>
            <a:r>
              <a:rPr lang="en-US" sz="2000" dirty="0">
                <a:solidFill>
                  <a:srgbClr val="CC508E"/>
                </a:solidFill>
                <a:latin typeface="Arial" pitchFamily="34" charset="0"/>
                <a:cs typeface="Arial" pitchFamily="34" charset="0"/>
              </a:rPr>
              <a:t>[3] Jason M. Byerly, Carey Schneider, Robert Schloss, Isaac West “Real-Time</a:t>
            </a:r>
          </a:p>
          <a:p>
            <a:pPr marL="0" indent="0" algn="just">
              <a:buNone/>
            </a:pPr>
            <a:r>
              <a:rPr lang="en-US" sz="2000" dirty="0">
                <a:solidFill>
                  <a:srgbClr val="CC508E"/>
                </a:solidFill>
                <a:latin typeface="Arial" pitchFamily="34" charset="0"/>
                <a:cs typeface="Arial" pitchFamily="34" charset="0"/>
              </a:rPr>
              <a:t>Circuit Breaker Health Diagnostics,” 43rd Annual Western Protective Relay, Conference, October 2016.</a:t>
            </a:r>
          </a:p>
          <a:p>
            <a:pPr marL="0" indent="0" algn="just">
              <a:buNone/>
            </a:pPr>
            <a:r>
              <a:rPr lang="en-US" sz="2000" dirty="0">
                <a:solidFill>
                  <a:srgbClr val="CC508E"/>
                </a:solidFill>
                <a:latin typeface="Arial" pitchFamily="34" charset="0"/>
                <a:cs typeface="Arial" pitchFamily="34" charset="0"/>
              </a:rPr>
              <a:t>.</a:t>
            </a:r>
            <a:endParaRPr lang="en-US" sz="2000" dirty="0">
              <a:solidFill>
                <a:srgbClr val="FF0000"/>
              </a:solidFill>
              <a:latin typeface="Arial" pitchFamily="34" charset="0"/>
              <a:cs typeface="Arial" pitchFamily="34" charset="0"/>
            </a:endParaRPr>
          </a:p>
        </p:txBody>
      </p:sp>
      <p:sp>
        <p:nvSpPr>
          <p:cNvPr id="4" name="Date Placeholder 3"/>
          <p:cNvSpPr>
            <a:spLocks noGrp="1"/>
          </p:cNvSpPr>
          <p:nvPr>
            <p:ph type="dt" sz="half" idx="10"/>
          </p:nvPr>
        </p:nvSpPr>
        <p:spPr/>
        <p:txBody>
          <a:bodyPr/>
          <a:lstStyle/>
          <a:p>
            <a:pPr>
              <a:defRPr/>
            </a:pPr>
            <a:fld id="{59354D54-645C-4B0D-9CDF-85397635CCC4}" type="datetime1">
              <a:rPr lang="en-US" smtClean="0"/>
              <a:pPr>
                <a:defRPr/>
              </a:pPr>
              <a:t>1/22/2025</a:t>
            </a:fld>
            <a:endParaRPr lang="en-US"/>
          </a:p>
        </p:txBody>
      </p:sp>
      <p:sp>
        <p:nvSpPr>
          <p:cNvPr id="5" name="Slide Number Placeholder 4"/>
          <p:cNvSpPr>
            <a:spLocks noGrp="1"/>
          </p:cNvSpPr>
          <p:nvPr>
            <p:ph type="sldNum" sz="quarter" idx="12"/>
          </p:nvPr>
        </p:nvSpPr>
        <p:spPr/>
        <p:txBody>
          <a:bodyPr/>
          <a:lstStyle/>
          <a:p>
            <a:pPr>
              <a:defRPr/>
            </a:pPr>
            <a:fld id="{55B20AF8-172C-4624-9675-EFA1EACB580C}"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274638"/>
            <a:ext cx="8229600" cy="563562"/>
          </a:xfrm>
        </p:spPr>
        <p:txBody>
          <a:bodyPr/>
          <a:lstStyle/>
          <a:p>
            <a:pPr eaLnBrk="1" hangingPunct="1"/>
            <a:r>
              <a:rPr lang="en-US" sz="2400" b="1" dirty="0">
                <a:solidFill>
                  <a:srgbClr val="0000FF"/>
                </a:solidFill>
                <a:latin typeface="Arial" charset="0"/>
                <a:cs typeface="Arial" charset="0"/>
              </a:rPr>
              <a:t>Work Plan</a:t>
            </a:r>
          </a:p>
        </p:txBody>
      </p:sp>
      <p:graphicFrame>
        <p:nvGraphicFramePr>
          <p:cNvPr id="4" name="Table 3"/>
          <p:cNvGraphicFramePr>
            <a:graphicFrameLocks noGrp="1"/>
          </p:cNvGraphicFramePr>
          <p:nvPr>
            <p:extLst>
              <p:ext uri="{D42A27DB-BD31-4B8C-83A1-F6EECF244321}">
                <p14:modId xmlns:p14="http://schemas.microsoft.com/office/powerpoint/2010/main" val="1704910759"/>
              </p:ext>
            </p:extLst>
          </p:nvPr>
        </p:nvGraphicFramePr>
        <p:xfrm>
          <a:off x="685800" y="914400"/>
          <a:ext cx="7772403" cy="4495800"/>
        </p:xfrm>
        <a:graphic>
          <a:graphicData uri="http://schemas.openxmlformats.org/drawingml/2006/table">
            <a:tbl>
              <a:tblPr/>
              <a:tblGrid>
                <a:gridCol w="3331029">
                  <a:extLst>
                    <a:ext uri="{9D8B030D-6E8A-4147-A177-3AD203B41FA5}">
                      <a16:colId xmlns:a16="http://schemas.microsoft.com/office/drawing/2014/main" val="20000"/>
                    </a:ext>
                  </a:extLst>
                </a:gridCol>
                <a:gridCol w="634482">
                  <a:extLst>
                    <a:ext uri="{9D8B030D-6E8A-4147-A177-3AD203B41FA5}">
                      <a16:colId xmlns:a16="http://schemas.microsoft.com/office/drawing/2014/main" val="20001"/>
                    </a:ext>
                  </a:extLst>
                </a:gridCol>
                <a:gridCol w="634482">
                  <a:extLst>
                    <a:ext uri="{9D8B030D-6E8A-4147-A177-3AD203B41FA5}">
                      <a16:colId xmlns:a16="http://schemas.microsoft.com/office/drawing/2014/main" val="20002"/>
                    </a:ext>
                  </a:extLst>
                </a:gridCol>
                <a:gridCol w="634482">
                  <a:extLst>
                    <a:ext uri="{9D8B030D-6E8A-4147-A177-3AD203B41FA5}">
                      <a16:colId xmlns:a16="http://schemas.microsoft.com/office/drawing/2014/main" val="20003"/>
                    </a:ext>
                  </a:extLst>
                </a:gridCol>
                <a:gridCol w="634482">
                  <a:extLst>
                    <a:ext uri="{9D8B030D-6E8A-4147-A177-3AD203B41FA5}">
                      <a16:colId xmlns:a16="http://schemas.microsoft.com/office/drawing/2014/main" val="20004"/>
                    </a:ext>
                  </a:extLst>
                </a:gridCol>
                <a:gridCol w="634482">
                  <a:extLst>
                    <a:ext uri="{9D8B030D-6E8A-4147-A177-3AD203B41FA5}">
                      <a16:colId xmlns:a16="http://schemas.microsoft.com/office/drawing/2014/main" val="20005"/>
                    </a:ext>
                  </a:extLst>
                </a:gridCol>
                <a:gridCol w="634482">
                  <a:extLst>
                    <a:ext uri="{9D8B030D-6E8A-4147-A177-3AD203B41FA5}">
                      <a16:colId xmlns:a16="http://schemas.microsoft.com/office/drawing/2014/main" val="20006"/>
                    </a:ext>
                  </a:extLst>
                </a:gridCol>
                <a:gridCol w="634482">
                  <a:extLst>
                    <a:ext uri="{9D8B030D-6E8A-4147-A177-3AD203B41FA5}">
                      <a16:colId xmlns:a16="http://schemas.microsoft.com/office/drawing/2014/main" val="20007"/>
                    </a:ext>
                  </a:extLst>
                </a:gridCol>
              </a:tblGrid>
              <a:tr h="814623">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Activity/Time Period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Dec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Jan </a:t>
                      </a:r>
                    </a:p>
                    <a:p>
                      <a:pPr marL="0" marR="0" algn="ctr">
                        <a:lnSpc>
                          <a:spcPct val="115000"/>
                        </a:lnSpc>
                        <a:spcBef>
                          <a:spcPts val="0"/>
                        </a:spcBef>
                        <a:spcAft>
                          <a:spcPts val="0"/>
                        </a:spcAft>
                      </a:pPr>
                      <a:r>
                        <a:rPr lang="en-US" sz="1100" dirty="0">
                          <a:latin typeface="Arial" pitchFamily="34" charset="0"/>
                          <a:ea typeface="Calibri"/>
                          <a:cs typeface="Arial" pitchFamily="34" charset="0"/>
                        </a:rPr>
                        <a:t>(1-15)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Jan</a:t>
                      </a:r>
                    </a:p>
                    <a:p>
                      <a:pPr marL="0" marR="0" algn="ctr">
                        <a:lnSpc>
                          <a:spcPct val="115000"/>
                        </a:lnSpc>
                        <a:spcBef>
                          <a:spcPts val="0"/>
                        </a:spcBef>
                        <a:spcAft>
                          <a:spcPts val="0"/>
                        </a:spcAft>
                      </a:pPr>
                      <a:r>
                        <a:rPr lang="en-US" sz="1100" dirty="0">
                          <a:latin typeface="Arial" pitchFamily="34" charset="0"/>
                          <a:ea typeface="Calibri"/>
                          <a:cs typeface="Arial" pitchFamily="34" charset="0"/>
                        </a:rPr>
                        <a:t>(16-31)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Feb</a:t>
                      </a:r>
                    </a:p>
                    <a:p>
                      <a:pPr marL="0" marR="0" algn="ctr">
                        <a:lnSpc>
                          <a:spcPct val="115000"/>
                        </a:lnSpc>
                        <a:spcBef>
                          <a:spcPts val="0"/>
                        </a:spcBef>
                        <a:spcAft>
                          <a:spcPts val="0"/>
                        </a:spcAft>
                      </a:pPr>
                      <a:r>
                        <a:rPr lang="en-US" sz="1100" dirty="0">
                          <a:latin typeface="Arial" pitchFamily="34" charset="0"/>
                          <a:ea typeface="Calibri"/>
                          <a:cs typeface="Arial" pitchFamily="34" charset="0"/>
                        </a:rPr>
                        <a:t>(1-15)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Feb</a:t>
                      </a:r>
                    </a:p>
                    <a:p>
                      <a:pPr marL="0" marR="0" algn="ctr">
                        <a:lnSpc>
                          <a:spcPct val="115000"/>
                        </a:lnSpc>
                        <a:spcBef>
                          <a:spcPts val="0"/>
                        </a:spcBef>
                        <a:spcAft>
                          <a:spcPts val="0"/>
                        </a:spcAft>
                      </a:pPr>
                      <a:r>
                        <a:rPr lang="en-US" sz="1100" dirty="0">
                          <a:latin typeface="Arial" pitchFamily="34" charset="0"/>
                          <a:ea typeface="Calibri"/>
                          <a:cs typeface="Arial" pitchFamily="34" charset="0"/>
                        </a:rPr>
                        <a:t>(10-27)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March</a:t>
                      </a:r>
                    </a:p>
                    <a:p>
                      <a:pPr marL="0" marR="0" algn="ctr">
                        <a:lnSpc>
                          <a:spcPct val="115000"/>
                        </a:lnSpc>
                        <a:spcBef>
                          <a:spcPts val="0"/>
                        </a:spcBef>
                        <a:spcAft>
                          <a:spcPts val="0"/>
                        </a:spcAft>
                      </a:pPr>
                      <a:r>
                        <a:rPr lang="en-US" sz="1100" dirty="0">
                          <a:latin typeface="Arial" pitchFamily="34" charset="0"/>
                          <a:ea typeface="Calibri"/>
                          <a:cs typeface="Arial" pitchFamily="34" charset="0"/>
                        </a:rPr>
                        <a:t>(1-15)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100" dirty="0">
                          <a:latin typeface="Arial" pitchFamily="34" charset="0"/>
                          <a:ea typeface="Calibri"/>
                          <a:cs typeface="Arial" pitchFamily="34" charset="0"/>
                        </a:rPr>
                        <a:t>March</a:t>
                      </a:r>
                    </a:p>
                    <a:p>
                      <a:pPr marL="0" marR="0" algn="ctr">
                        <a:lnSpc>
                          <a:spcPct val="115000"/>
                        </a:lnSpc>
                        <a:spcBef>
                          <a:spcPts val="0"/>
                        </a:spcBef>
                        <a:spcAft>
                          <a:spcPts val="0"/>
                        </a:spcAft>
                      </a:pPr>
                      <a:r>
                        <a:rPr lang="en-US" sz="1100" dirty="0">
                          <a:latin typeface="Arial" pitchFamily="34" charset="0"/>
                          <a:ea typeface="Calibri"/>
                          <a:cs typeface="Arial" pitchFamily="34" charset="0"/>
                        </a:rPr>
                        <a:t>(16-31)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00"/>
                  </a:ext>
                </a:extLst>
              </a:tr>
              <a:tr h="608040">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Literature Survey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08040">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Study of Simulation Tool for System design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08040">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Study</a:t>
                      </a:r>
                      <a:r>
                        <a:rPr lang="en-US" sz="1200" baseline="0" dirty="0">
                          <a:latin typeface="Arial" pitchFamily="34" charset="0"/>
                          <a:ea typeface="Calibri"/>
                          <a:cs typeface="Arial" pitchFamily="34" charset="0"/>
                        </a:rPr>
                        <a:t> of simulation Tool for Code Design</a:t>
                      </a:r>
                      <a:endParaRPr lang="en-US" sz="12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solidFill>
                          <a:srgbClr val="0000FF"/>
                        </a:solidFill>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solidFill>
                          <a:srgbClr val="0000FF"/>
                        </a:solidFill>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08040">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Simulation</a:t>
                      </a:r>
                      <a:r>
                        <a:rPr lang="en-US" sz="1200" baseline="0" dirty="0">
                          <a:latin typeface="Arial" pitchFamily="34" charset="0"/>
                          <a:ea typeface="Calibri"/>
                          <a:cs typeface="Arial" pitchFamily="34" charset="0"/>
                        </a:rPr>
                        <a:t> and Design of Code</a:t>
                      </a:r>
                      <a:endParaRPr lang="en-US" sz="12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0977">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Incorporation</a:t>
                      </a:r>
                      <a:r>
                        <a:rPr lang="en-US" sz="1200" baseline="0" dirty="0">
                          <a:latin typeface="Arial" pitchFamily="34" charset="0"/>
                          <a:ea typeface="Calibri"/>
                          <a:cs typeface="Arial" pitchFamily="34" charset="0"/>
                        </a:rPr>
                        <a:t> with Cloud</a:t>
                      </a:r>
                      <a:endParaRPr lang="en-US" sz="12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08040">
                <a:tc>
                  <a:txBody>
                    <a:bodyPr/>
                    <a:lstStyle/>
                    <a:p>
                      <a:pPr marL="0" marR="0">
                        <a:lnSpc>
                          <a:spcPct val="115000"/>
                        </a:lnSpc>
                        <a:spcBef>
                          <a:spcPts val="0"/>
                        </a:spcBef>
                        <a:spcAft>
                          <a:spcPts val="0"/>
                        </a:spcAft>
                      </a:pPr>
                      <a:r>
                        <a:rPr lang="en-US" sz="1200" dirty="0">
                          <a:latin typeface="Arial" pitchFamily="34" charset="0"/>
                          <a:ea typeface="Calibri"/>
                          <a:cs typeface="Arial" pitchFamily="34" charset="0"/>
                        </a:rPr>
                        <a:t>Preparation and Submission</a:t>
                      </a:r>
                      <a:r>
                        <a:rPr lang="en-US" sz="1200" baseline="0" dirty="0">
                          <a:latin typeface="Arial" pitchFamily="34" charset="0"/>
                          <a:ea typeface="Calibri"/>
                          <a:cs typeface="Arial" pitchFamily="34" charset="0"/>
                        </a:rPr>
                        <a:t> </a:t>
                      </a:r>
                      <a:r>
                        <a:rPr lang="en-US" sz="1200" dirty="0">
                          <a:latin typeface="Arial" pitchFamily="34" charset="0"/>
                          <a:ea typeface="Calibri"/>
                          <a:cs typeface="Arial" pitchFamily="34" charset="0"/>
                        </a:rPr>
                        <a:t>of the final report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6"/>
                  </a:ext>
                </a:extLst>
              </a:tr>
            </a:tbl>
          </a:graphicData>
        </a:graphic>
      </p:graphicFrame>
      <p:sp>
        <p:nvSpPr>
          <p:cNvPr id="5" name="Date Placeholder 4"/>
          <p:cNvSpPr>
            <a:spLocks noGrp="1"/>
          </p:cNvSpPr>
          <p:nvPr>
            <p:ph type="dt" sz="half" idx="10"/>
          </p:nvPr>
        </p:nvSpPr>
        <p:spPr/>
        <p:txBody>
          <a:bodyPr/>
          <a:lstStyle/>
          <a:p>
            <a:pPr>
              <a:defRPr/>
            </a:pPr>
            <a:fld id="{7535B7E9-7FF7-4555-9645-A6BC34D2EB73}" type="datetime1">
              <a:rPr lang="en-US" smtClean="0"/>
              <a:pPr>
                <a:defRPr/>
              </a:pPr>
              <a:t>1/22/2025</a:t>
            </a:fld>
            <a:endParaRPr lang="en-US"/>
          </a:p>
        </p:txBody>
      </p:sp>
      <p:sp>
        <p:nvSpPr>
          <p:cNvPr id="6" name="Slide Number Placeholder 5"/>
          <p:cNvSpPr>
            <a:spLocks noGrp="1"/>
          </p:cNvSpPr>
          <p:nvPr>
            <p:ph type="sldNum" sz="quarter" idx="12"/>
          </p:nvPr>
        </p:nvSpPr>
        <p:spPr/>
        <p:txBody>
          <a:bodyPr/>
          <a:lstStyle/>
          <a:p>
            <a:pPr>
              <a:defRPr/>
            </a:pPr>
            <a:fld id="{55B20AF8-172C-4624-9675-EFA1EACB580C}"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p:txBody>
          <a:bodyPr/>
          <a:lstStyle/>
          <a:p>
            <a:pPr algn="ctr" eaLnBrk="1" hangingPunct="1">
              <a:buFont typeface="Arial" charset="0"/>
              <a:buNone/>
            </a:pPr>
            <a:endParaRPr lang="en-US"/>
          </a:p>
          <a:p>
            <a:pPr algn="ctr" eaLnBrk="1" hangingPunct="1">
              <a:buFont typeface="Arial" charset="0"/>
              <a:buNone/>
            </a:pPr>
            <a:endParaRPr lang="en-US"/>
          </a:p>
          <a:p>
            <a:pPr algn="ctr" eaLnBrk="1" hangingPunct="1">
              <a:buFont typeface="Arial" charset="0"/>
              <a:buNone/>
            </a:pPr>
            <a:endParaRPr lang="en-US"/>
          </a:p>
          <a:p>
            <a:pPr algn="ctr" eaLnBrk="1" hangingPunct="1">
              <a:buFont typeface="Arial" charset="0"/>
              <a:buNone/>
            </a:pPr>
            <a:r>
              <a:rPr lang="en-US">
                <a:latin typeface="Arial" charset="0"/>
                <a:cs typeface="Arial" charset="0"/>
              </a:rPr>
              <a:t>Thank You</a:t>
            </a:r>
          </a:p>
        </p:txBody>
      </p:sp>
      <p:sp>
        <p:nvSpPr>
          <p:cNvPr id="3" name="Date Placeholder 2"/>
          <p:cNvSpPr>
            <a:spLocks noGrp="1"/>
          </p:cNvSpPr>
          <p:nvPr>
            <p:ph type="dt" sz="half" idx="10"/>
          </p:nvPr>
        </p:nvSpPr>
        <p:spPr/>
        <p:txBody>
          <a:bodyPr/>
          <a:lstStyle/>
          <a:p>
            <a:pPr>
              <a:defRPr/>
            </a:pPr>
            <a:fld id="{74CF703D-99B7-42F0-A732-BCB81C2AA4BE}" type="datetime1">
              <a:rPr lang="en-US" smtClean="0"/>
              <a:pPr>
                <a:defRPr/>
              </a:pPr>
              <a:t>1/22/2025</a:t>
            </a:fld>
            <a:endParaRPr lang="en-US"/>
          </a:p>
        </p:txBody>
      </p:sp>
      <p:sp>
        <p:nvSpPr>
          <p:cNvPr id="4" name="Slide Number Placeholder 3"/>
          <p:cNvSpPr>
            <a:spLocks noGrp="1"/>
          </p:cNvSpPr>
          <p:nvPr>
            <p:ph type="sldNum" sz="quarter" idx="12"/>
          </p:nvPr>
        </p:nvSpPr>
        <p:spPr/>
        <p:txBody>
          <a:bodyPr/>
          <a:lstStyle/>
          <a:p>
            <a:pPr>
              <a:defRPr/>
            </a:pPr>
            <a:fld id="{55B20AF8-172C-4624-9675-EFA1EACB580C}" type="slidenum">
              <a:rPr lang="en-US" smtClean="0"/>
              <a:pPr>
                <a:defRPr/>
              </a:pPr>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586</TotalTime>
  <Words>1128</Words>
  <Application>Microsoft Office PowerPoint</Application>
  <PresentationFormat>On-screen Show (4:3)</PresentationFormat>
  <Paragraphs>150</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Gothic</vt:lpstr>
      <vt:lpstr>Times New Roman</vt:lpstr>
      <vt:lpstr>Wingdings</vt:lpstr>
      <vt:lpstr>Office Theme</vt:lpstr>
      <vt:lpstr>PowerPoint Presentation</vt:lpstr>
      <vt:lpstr>Contents</vt:lpstr>
      <vt:lpstr>Contents</vt:lpstr>
      <vt:lpstr>Objective</vt:lpstr>
      <vt:lpstr>Introduction</vt:lpstr>
      <vt:lpstr>Literature Review </vt:lpstr>
      <vt:lpstr>Problem Statement</vt:lpstr>
      <vt:lpstr>Proposed Work </vt:lpstr>
      <vt:lpstr>FLOW MATRIX</vt:lpstr>
      <vt:lpstr>FLOW MATRIX</vt:lpstr>
      <vt:lpstr>  Simulation Tool/ Equipments/ Components </vt:lpstr>
      <vt:lpstr>Conclusion</vt:lpstr>
      <vt:lpstr>References</vt:lpstr>
      <vt:lpstr>Work Plan</vt:lpstr>
      <vt:lpstr>PowerPoint Presentation</vt:lpstr>
    </vt:vector>
  </TitlesOfParts>
  <Company>rmkcet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padmavathy</dc:creator>
  <cp:lastModifiedBy>Dhaarani Selvam</cp:lastModifiedBy>
  <cp:revision>122</cp:revision>
  <dcterms:created xsi:type="dcterms:W3CDTF">2011-12-06T06:19:26Z</dcterms:created>
  <dcterms:modified xsi:type="dcterms:W3CDTF">2025-01-22T15:42:23Z</dcterms:modified>
</cp:coreProperties>
</file>